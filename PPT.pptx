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8" r:id="rId4"/>
    <p:sldId id="282" r:id="rId5"/>
    <p:sldId id="264" r:id="rId7"/>
    <p:sldId id="263" r:id="rId8"/>
    <p:sldId id="273" r:id="rId9"/>
    <p:sldId id="262" r:id="rId10"/>
    <p:sldId id="261" r:id="rId11"/>
    <p:sldId id="260" r:id="rId12"/>
    <p:sldId id="259" r:id="rId13"/>
    <p:sldId id="266" r:id="rId14"/>
    <p:sldId id="275" r:id="rId15"/>
    <p:sldId id="283" r:id="rId16"/>
    <p:sldId id="267" r:id="rId17"/>
    <p:sldId id="284" r:id="rId18"/>
    <p:sldId id="285" r:id="rId19"/>
    <p:sldId id="287" r:id="rId20"/>
    <p:sldId id="291" r:id="rId21"/>
    <p:sldId id="279" r:id="rId22"/>
    <p:sldId id="269" r:id="rId23"/>
    <p:sldId id="289" r:id="rId24"/>
    <p:sldId id="292" r:id="rId25"/>
    <p:sldId id="270" r:id="rId26"/>
    <p:sldId id="290" r:id="rId27"/>
    <p:sldId id="265"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196" autoAdjust="0"/>
  </p:normalViewPr>
  <p:slideViewPr>
    <p:cSldViewPr snapToGrid="0">
      <p:cViewPr varScale="1">
        <p:scale>
          <a:sx n="78" d="100"/>
          <a:sy n="78" d="100"/>
        </p:scale>
        <p:origin x="1622"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B0672-1B94-4A60-842A-DF9F0BF0CC8B}" type="datetimeFigureOut">
              <a:rPr lang="en-IN" smtClean="0"/>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47B17-79FE-4478-A310-1A2505B9FEF6}"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747B17-79FE-4478-A310-1A2505B9FEF6}"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065591-C3C6-47CF-A2DB-55DDBFB55A85}" type="datetime1">
              <a:rPr lang="en-IN" smtClean="0"/>
            </a:fld>
            <a:endParaRPr lang="en-IN"/>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01D432E2-0806-4929-8779-EE88DDC47E47}" type="datetime1">
              <a:rPr lang="en-IN" smtClean="0"/>
            </a:fld>
            <a:endParaRPr lang="en-IN"/>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B715436-A2AC-4D89-9329-97AA1B97EAFC}" type="datetime1">
              <a:rPr lang="en-IN" smtClean="0"/>
            </a:fld>
            <a:endParaRPr lang="en-IN"/>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E8E84AF-4249-49EE-87E5-0A37D77DAEE4}" type="datetime1">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7" name="Slide Number Placeholder 6"/>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CCE42BAB-21C6-4946-AC9E-F08FB01A7447}" type="datetime1">
              <a:rPr lang="en-IN" smtClean="0"/>
            </a:fld>
            <a:endParaRPr lang="en-IN"/>
          </a:p>
        </p:txBody>
      </p:sp>
      <p:sp>
        <p:nvSpPr>
          <p:cNvPr id="8" name="Footer Placeholder 7"/>
          <p:cNvSpPr>
            <a:spLocks noGrp="1"/>
          </p:cNvSpPr>
          <p:nvPr>
            <p:ph type="ftr" sz="quarter" idx="11"/>
          </p:nvPr>
        </p:nvSpPr>
        <p:spPr/>
        <p:txBody>
          <a:bodyPr/>
          <a:lstStyle/>
          <a:p>
            <a:r>
              <a:rPr lang="en-IN"/>
              <a:t>Title of the Project</a:t>
            </a:r>
            <a:endParaRPr lang="en-IN"/>
          </a:p>
        </p:txBody>
      </p:sp>
      <p:sp>
        <p:nvSpPr>
          <p:cNvPr id="9" name="Slide Number Placeholder 8"/>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B251D88-3FE6-4182-8819-A45055358F36}" type="datetime1">
              <a:rPr lang="en-IN" smtClean="0"/>
            </a:fld>
            <a:endParaRPr lang="en-IN"/>
          </a:p>
        </p:txBody>
      </p:sp>
      <p:sp>
        <p:nvSpPr>
          <p:cNvPr id="4" name="Footer Placeholder 3"/>
          <p:cNvSpPr>
            <a:spLocks noGrp="1"/>
          </p:cNvSpPr>
          <p:nvPr>
            <p:ph type="ftr" sz="quarter" idx="11"/>
          </p:nvPr>
        </p:nvSpPr>
        <p:spPr/>
        <p:txBody>
          <a:bodyPr/>
          <a:lstStyle/>
          <a:p>
            <a:r>
              <a:rPr lang="en-IN"/>
              <a:t>Title of the Project</a:t>
            </a:r>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BD1E957-E8C0-4B79-8C47-A2FFB4C79D04}" type="datetime1">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7" name="Slide Number Placeholder 6"/>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3C60097-B585-439D-9C55-CBA24A0E2EC5}" type="datetime1">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7" name="Slide Number Placeholder 6"/>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ECC0C9A-A18F-4F99-8022-CCFEBCD4A044}" type="datetime1">
              <a:rPr lang="en-IN" smtClean="0"/>
            </a:fld>
            <a:endParaRPr lang="en-IN"/>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AC91557-4971-443F-96E7-C200B513F2AB}" type="datetime1">
              <a:rPr lang="en-IN" smtClean="0"/>
            </a:fld>
            <a:endParaRPr lang="en-IN"/>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574CBD-D244-420B-B808-B53ACA3B5DC2}" type="datetime1">
              <a:rPr lang="en-IN" smtClean="0"/>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Title of the Project</a:t>
            </a:r>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FF152-60F5-4862-82F9-1190556AA56F}"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174379" y="99322"/>
            <a:ext cx="1576960" cy="1178263"/>
          </a:xfrm>
          <a:prstGeom prst="rect">
            <a:avLst/>
          </a:prstGeom>
        </p:spPr>
      </p:pic>
      <p:pic>
        <p:nvPicPr>
          <p:cNvPr id="1032" name="Picture 8" descr="Anna University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5085" y="88372"/>
            <a:ext cx="1306884" cy="117826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128419" y="1800692"/>
            <a:ext cx="7020042" cy="461665"/>
          </a:xfrm>
          <a:prstGeom prst="rect">
            <a:avLst/>
          </a:prstGeom>
          <a:noFill/>
        </p:spPr>
        <p:txBody>
          <a:bodyPr wrap="square">
            <a:spAutoFit/>
          </a:bodyPr>
          <a:lstStyle/>
          <a:p>
            <a:r>
              <a:rPr lang="en-US" sz="2400" b="1" dirty="0">
                <a:solidFill>
                  <a:srgbClr val="7030A0"/>
                </a:solidFill>
                <a:latin typeface="Times New Roman" panose="02020603050405020304" pitchFamily="18" charset="0"/>
              </a:rPr>
              <a:t>Department of Computer Science and Engineering </a:t>
            </a:r>
            <a:endParaRPr lang="en-IN" sz="2400" b="1" dirty="0">
              <a:solidFill>
                <a:srgbClr val="7030A0"/>
              </a:solidFill>
            </a:endParaRPr>
          </a:p>
        </p:txBody>
      </p:sp>
      <p:sp>
        <p:nvSpPr>
          <p:cNvPr id="9" name="TextBox 8"/>
          <p:cNvSpPr txBox="1"/>
          <p:nvPr/>
        </p:nvSpPr>
        <p:spPr>
          <a:xfrm>
            <a:off x="1494503" y="2448779"/>
            <a:ext cx="6459794" cy="1384995"/>
          </a:xfrm>
          <a:prstGeom prst="rect">
            <a:avLst/>
          </a:prstGeom>
          <a:noFill/>
        </p:spPr>
        <p:txBody>
          <a:bodyPr wrap="square" rtlCol="0">
            <a:spAutoFit/>
          </a:bodyPr>
          <a:lstStyle/>
          <a:p>
            <a:pPr algn="ctr"/>
            <a:r>
              <a:rPr lang="en-US" altLang="en-US" sz="2800" b="1" dirty="0">
                <a:latin typeface="Times New Roman" panose="02020603050405020304" pitchFamily="18" charset="0"/>
                <a:cs typeface="Times New Roman" panose="02020603050405020304" pitchFamily="18" charset="0"/>
              </a:rPr>
              <a:t>WEATHER FORECASTING USING MACHINE LEARNING</a:t>
            </a:r>
            <a:endParaRPr lang="en-US" altLang="en-US"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633275" y="5456602"/>
            <a:ext cx="3938725"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Guide Name &amp; Designation	</a:t>
            </a:r>
            <a:endParaRPr lang="en-US" b="1" dirty="0">
              <a:latin typeface="Times New Roman" panose="02020603050405020304" pitchFamily="18" charset="0"/>
              <a:cs typeface="Times New Roman" panose="02020603050405020304" pitchFamily="18" charset="0"/>
            </a:endParaRPr>
          </a:p>
          <a:p>
            <a:r>
              <a:rPr lang="en-US" altLang="en-US" sz="1800" b="1" dirty="0">
                <a:latin typeface="Times New Roman" panose="02020603050405020304" pitchFamily="18" charset="0"/>
                <a:cs typeface="Times New Roman" panose="02020603050405020304" pitchFamily="18" charset="0"/>
              </a:rPr>
              <a:t>DR.V. SATHYA ,M.E.,</a:t>
            </a:r>
            <a:r>
              <a:rPr lang="en-US" altLang="en-US" sz="1800" b="1" dirty="0" err="1">
                <a:latin typeface="Times New Roman" panose="02020603050405020304" pitchFamily="18" charset="0"/>
                <a:cs typeface="Times New Roman" panose="02020603050405020304" pitchFamily="18" charset="0"/>
              </a:rPr>
              <a:t>Ph.d</a:t>
            </a:r>
            <a:r>
              <a:rPr lang="en-US" altLang="en-US" sz="1800" b="1" dirty="0">
                <a:latin typeface="Times New Roman" panose="02020603050405020304" pitchFamily="18" charset="0"/>
                <a:cs typeface="Times New Roman" panose="02020603050405020304" pitchFamily="18" charset="0"/>
              </a:rPr>
              <a:t>.,</a:t>
            </a:r>
            <a:endParaRPr lang="en-US" altLang="en-US" sz="1800"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SUPERVISOR</a:t>
            </a:r>
            <a:endParaRPr lang="en-IN"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2846677" y="3513851"/>
            <a:ext cx="4802820" cy="1614805"/>
          </a:xfrm>
          <a:prstGeom prst="rect">
            <a:avLst/>
          </a:prstGeom>
          <a:noFill/>
        </p:spPr>
        <p:txBody>
          <a:bodyPr wrap="square" rtlCol="0">
            <a:spAutoFit/>
          </a:bodyPr>
          <a:lstStyle/>
          <a:p>
            <a:pPr>
              <a:lnSpc>
                <a:spcPct val="150000"/>
              </a:lnSpc>
            </a:pPr>
            <a:r>
              <a:rPr lang="en-US" altLang="en-US" sz="1800" b="1" dirty="0">
                <a:latin typeface="Times New Roman" panose="02020603050405020304" pitchFamily="18" charset="0"/>
                <a:cs typeface="Times New Roman" panose="02020603050405020304" pitchFamily="18" charset="0"/>
              </a:rPr>
              <a:t>MOULI V – [211421104166]</a:t>
            </a:r>
            <a:endParaRPr lang="en-US" altLang="en-US" sz="1800" b="1" dirty="0">
              <a:latin typeface="Times New Roman" panose="02020603050405020304" pitchFamily="18" charset="0"/>
              <a:cs typeface="Times New Roman" panose="02020603050405020304" pitchFamily="18" charset="0"/>
            </a:endParaRPr>
          </a:p>
          <a:p>
            <a:pPr>
              <a:lnSpc>
                <a:spcPct val="150000"/>
              </a:lnSpc>
            </a:pPr>
            <a:r>
              <a:rPr lang="en-US" altLang="en-US" sz="1800" b="1" dirty="0">
                <a:latin typeface="Times New Roman" panose="02020603050405020304" pitchFamily="18" charset="0"/>
                <a:cs typeface="Times New Roman" panose="02020603050405020304" pitchFamily="18" charset="0"/>
              </a:rPr>
              <a:t>NADESAN R -[211421104167]</a:t>
            </a:r>
            <a:endParaRPr lang="en-US" altLang="en-US" sz="1800" b="1" dirty="0">
              <a:latin typeface="Times New Roman" panose="02020603050405020304" pitchFamily="18" charset="0"/>
              <a:cs typeface="Times New Roman" panose="02020603050405020304" pitchFamily="18" charset="0"/>
            </a:endParaRPr>
          </a:p>
          <a:p>
            <a:pPr>
              <a:lnSpc>
                <a:spcPct val="150000"/>
              </a:lnSpc>
            </a:pPr>
            <a:r>
              <a:rPr lang="en-US" altLang="en-US" sz="1800" b="1" dirty="0">
                <a:latin typeface="Times New Roman" panose="02020603050405020304" pitchFamily="18" charset="0"/>
                <a:cs typeface="Times New Roman" panose="02020603050405020304" pitchFamily="18" charset="0"/>
              </a:rPr>
              <a:t>POTHIMADHAVAN M -[211421104187]</a:t>
            </a:r>
            <a:endParaRPr lang="en-US" altLang="en-US" sz="1800"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660490" y="5456602"/>
            <a:ext cx="4210545"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Coordinator Name &amp; Designation</a:t>
            </a:r>
            <a:endParaRPr lang="en-US" b="1" dirty="0">
              <a:latin typeface="Times New Roman" panose="02020603050405020304" pitchFamily="18" charset="0"/>
              <a:cs typeface="Times New Roman" panose="02020603050405020304" pitchFamily="18" charset="0"/>
            </a:endParaRPr>
          </a:p>
          <a:p>
            <a:r>
              <a:rPr lang="en-IN" sz="1800" b="1" i="0" u="none" strike="noStrike" baseline="0" dirty="0">
                <a:solidFill>
                  <a:srgbClr val="000000"/>
                </a:solidFill>
                <a:latin typeface="Times New Roman" panose="02020603050405020304" pitchFamily="18" charset="0"/>
              </a:rPr>
              <a:t>Dr R. </a:t>
            </a:r>
            <a:r>
              <a:rPr lang="en-IN" sz="1800" b="1" dirty="0">
                <a:solidFill>
                  <a:srgbClr val="000000"/>
                </a:solidFill>
                <a:latin typeface="Times New Roman" panose="02020603050405020304" pitchFamily="18" charset="0"/>
              </a:rPr>
              <a:t>J</a:t>
            </a:r>
            <a:r>
              <a:rPr lang="en-IN" sz="1800" b="1" i="0" u="none" strike="noStrike" baseline="0" dirty="0">
                <a:solidFill>
                  <a:srgbClr val="000000"/>
                </a:solidFill>
                <a:latin typeface="Times New Roman" panose="02020603050405020304" pitchFamily="18" charset="0"/>
              </a:rPr>
              <a:t>OSEPHINLEELA </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M.E., Ph.D.,</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18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PROFESSOR</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1418480" y="99322"/>
            <a:ext cx="6133822" cy="1263286"/>
          </a:xfrm>
          <a:prstGeom prst="rect">
            <a:avLst/>
          </a:prstGeom>
        </p:spPr>
      </p:pic>
      <p:sp>
        <p:nvSpPr>
          <p:cNvPr id="6" name="Date Placeholder 5"/>
          <p:cNvSpPr>
            <a:spLocks noGrp="1"/>
          </p:cNvSpPr>
          <p:nvPr>
            <p:ph type="dt" sz="half" idx="10"/>
          </p:nvPr>
        </p:nvSpPr>
        <p:spPr/>
        <p:txBody>
          <a:bodyPr/>
          <a:lstStyle/>
          <a:p>
            <a:fld id="{B1F8A8B3-64F9-4DC5-ACC8-B61CB529DC3B}" type="datetime1">
              <a:rPr lang="en-IN" smtClean="0"/>
            </a:fld>
            <a:endParaRPr lang="en-IN"/>
          </a:p>
        </p:txBody>
      </p:sp>
      <p:sp>
        <p:nvSpPr>
          <p:cNvPr id="10" name="Slide Number Placeholder 9"/>
          <p:cNvSpPr>
            <a:spLocks noGrp="1"/>
          </p:cNvSpPr>
          <p:nvPr>
            <p:ph type="sldNum" sz="quarter" idx="12"/>
          </p:nvPr>
        </p:nvSpPr>
        <p:spPr>
          <a:xfrm>
            <a:off x="6457949" y="6356351"/>
            <a:ext cx="2314273" cy="365125"/>
          </a:xfrm>
        </p:spPr>
        <p:txBody>
          <a:bodyPr/>
          <a:lstStyle/>
          <a:p>
            <a:r>
              <a:rPr lang="en-IN" sz="1400" dirty="0">
                <a:solidFill>
                  <a:schemeClr val="tx1"/>
                </a:solidFill>
              </a:rPr>
              <a:t>1</a:t>
            </a:r>
            <a:endParaRPr lang="en-IN" sz="1400" dirty="0">
              <a:solidFill>
                <a:schemeClr val="tx1"/>
              </a:solidFill>
            </a:endParaRPr>
          </a:p>
        </p:txBody>
      </p:sp>
      <p:sp>
        <p:nvSpPr>
          <p:cNvPr id="8" name="Footer Placeholder 7"/>
          <p:cNvSpPr>
            <a:spLocks noGrp="1"/>
          </p:cNvSpPr>
          <p:nvPr>
            <p:ph type="ftr" sz="quarter" idx="11"/>
          </p:nvPr>
        </p:nvSpPr>
        <p:spPr/>
        <p:txBody>
          <a:bodyPr/>
          <a:lstStyle/>
          <a:p>
            <a:r>
              <a:rPr lang="en-IN"/>
              <a:t>Title of the Project</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478225"/>
            <a:ext cx="7886700" cy="530258"/>
          </a:xfrm>
        </p:spPr>
        <p:txBody>
          <a:bodyPr>
            <a:no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Abstract</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18F0AC4F-8EE2-49E7-816C-79BFA23C6CF7}" type="datetime1">
              <a:rPr lang="en-IN" smtClean="0"/>
            </a:fld>
            <a:endParaRPr lang="en-IN"/>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5" name="TextBox 4"/>
          <p:cNvSpPr txBox="1"/>
          <p:nvPr/>
        </p:nvSpPr>
        <p:spPr>
          <a:xfrm>
            <a:off x="1120588" y="1604682"/>
            <a:ext cx="7394762" cy="369332"/>
          </a:xfrm>
          <a:prstGeom prst="rect">
            <a:avLst/>
          </a:prstGeom>
          <a:noFill/>
        </p:spPr>
        <p:txBody>
          <a:bodyPr wrap="square" rtlCol="0">
            <a:spAutoFit/>
          </a:bodyPr>
          <a:lstStyle/>
          <a:p>
            <a:endParaRPr lang="en-IN" dirty="0"/>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811161" y="1332947"/>
            <a:ext cx="7521675" cy="4524315"/>
          </a:xfrm>
          <a:prstGeom prst="rect">
            <a:avLst/>
          </a:prstGeom>
          <a:noFill/>
        </p:spPr>
        <p:txBody>
          <a:bodyPr wrap="square">
            <a:spAutoFit/>
          </a:bodyPr>
          <a:lstStyle/>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Advanced machine learning models for weather prediction, such as those aimed at forecasting conditions like clouds or thunderstorms, leverage complex algorithms to analyse vast datasets. </a:t>
            </a: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These models integrate various meteorological parameters such as temperature, humidity, wind speed, and atmospheric pressure, using techniques like neural networks, ensemble methods, and machine learning algorithms. </a:t>
            </a: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By processing historical weather data and real-time observations, these models can predict the likelihood and intensity of weather events with greater accuracy. </a:t>
            </a: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They play a crucial role in providing timely warnings and forecasts, aiding in disaster preparedness, agriculture, aviation, and daily planning for individuals and organizations alike.</a:t>
            </a:r>
            <a:endParaRPr lang="en-AU"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3567"/>
            <a:ext cx="7886700" cy="530258"/>
          </a:xfrm>
        </p:spPr>
        <p:txBody>
          <a:bodyPr>
            <a:no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Introduction</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C977F947-1F31-4877-9EB8-5993283EF907}" type="datetime1">
              <a:rPr lang="en-IN" smtClean="0"/>
            </a:fld>
            <a:endParaRPr lang="en-IN"/>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5" name="TextBox 4"/>
          <p:cNvSpPr txBox="1"/>
          <p:nvPr/>
        </p:nvSpPr>
        <p:spPr>
          <a:xfrm>
            <a:off x="1120588" y="1604682"/>
            <a:ext cx="7394762" cy="369332"/>
          </a:xfrm>
          <a:prstGeom prst="rect">
            <a:avLst/>
          </a:prstGeom>
          <a:noFill/>
        </p:spPr>
        <p:txBody>
          <a:bodyPr wrap="square" rtlCol="0">
            <a:spAutoFit/>
          </a:bodyPr>
          <a:lstStyle/>
          <a:p>
            <a:endParaRPr lang="en-IN" dirty="0"/>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816691" y="1272644"/>
            <a:ext cx="7698659" cy="4599272"/>
          </a:xfrm>
          <a:prstGeom prst="rect">
            <a:avLst/>
          </a:prstGeom>
          <a:noFill/>
        </p:spPr>
        <p:txBody>
          <a:bodyPr wrap="square">
            <a:spAutoFit/>
          </a:bodyPr>
          <a:lstStyle/>
          <a:p>
            <a:pPr marL="285750" indent="-285750" algn="just">
              <a:lnSpc>
                <a:spcPct val="106000"/>
              </a:lnSpc>
              <a:spcAft>
                <a:spcPts val="800"/>
              </a:spcAft>
              <a:buFont typeface="Wingdings" panose="05000000000000000000" pitchFamily="2" charset="2"/>
              <a:buChar char="§"/>
            </a:pPr>
            <a:r>
              <a:rPr lang="en-US" sz="1800" dirty="0">
                <a:effectLst/>
                <a:latin typeface="Times New Roman" panose="02020603050405020304" pitchFamily="18" charset="0"/>
                <a:cs typeface="Latha" panose="020B0604020202020204" pitchFamily="34" charset="0"/>
              </a:rPr>
              <a:t>Advanced machine learning models play a crucial role in enhancing weather prediction capabilities, offering a sophisticated approach to analyzing vast datasets generated from various sources, including satellite imagery, sensor networks, and historical weather records. </a:t>
            </a:r>
            <a:endParaRPr lang="en-US" sz="1800" dirty="0">
              <a:effectLst/>
              <a:latin typeface="Times New Roman" panose="02020603050405020304" pitchFamily="18" charset="0"/>
              <a:cs typeface="Latha" panose="020B0604020202020204" pitchFamily="34" charset="0"/>
            </a:endParaRPr>
          </a:p>
          <a:p>
            <a:pPr algn="just">
              <a:lnSpc>
                <a:spcPct val="106000"/>
              </a:lnSpc>
              <a:spcAft>
                <a:spcPts val="800"/>
              </a:spcAft>
            </a:pPr>
            <a:endParaRPr lang="en-US" dirty="0">
              <a:latin typeface="Times New Roman" panose="02020603050405020304" pitchFamily="18" charset="0"/>
              <a:cs typeface="Latha" panose="020B0604020202020204" pitchFamily="34" charset="0"/>
            </a:endParaRPr>
          </a:p>
          <a:p>
            <a:pPr marL="285750" indent="-285750" algn="just">
              <a:lnSpc>
                <a:spcPct val="106000"/>
              </a:lnSpc>
              <a:spcAft>
                <a:spcPts val="800"/>
              </a:spcAft>
              <a:buFont typeface="Arial" panose="020B0604020202020204" pitchFamily="34" charset="0"/>
              <a:buChar char="•"/>
            </a:pPr>
            <a:r>
              <a:rPr lang="en-US" sz="1800" dirty="0">
                <a:effectLst/>
                <a:latin typeface="Times New Roman" panose="02020603050405020304" pitchFamily="18" charset="0"/>
                <a:cs typeface="Latha" panose="020B0604020202020204" pitchFamily="34" charset="0"/>
              </a:rPr>
              <a:t>These models leverage algorithms that can identify intricate patterns and correlations within the data, enabling more accurate forecasts that are essential for agriculture, disaster management, and urban planning.</a:t>
            </a:r>
            <a:endParaRPr lang="en-US" sz="1800" dirty="0">
              <a:effectLst/>
              <a:latin typeface="Times New Roman" panose="02020603050405020304" pitchFamily="18" charset="0"/>
              <a:cs typeface="Latha" panose="020B0604020202020204" pitchFamily="34" charset="0"/>
            </a:endParaRPr>
          </a:p>
          <a:p>
            <a:pPr marL="285750" indent="-285750" algn="just">
              <a:lnSpc>
                <a:spcPct val="106000"/>
              </a:lnSpc>
              <a:spcAft>
                <a:spcPts val="800"/>
              </a:spcAft>
              <a:buFont typeface="Wingdings" panose="05000000000000000000" pitchFamily="2" charset="2"/>
              <a:buChar char="§"/>
            </a:pPr>
            <a:endParaRPr lang="en-US" sz="1800" dirty="0">
              <a:effectLst/>
              <a:latin typeface="Times New Roman" panose="02020603050405020304" pitchFamily="18" charset="0"/>
              <a:cs typeface="Latha" panose="020B0604020202020204" pitchFamily="34" charset="0"/>
            </a:endParaRPr>
          </a:p>
          <a:p>
            <a:pPr marL="285750" indent="-285750" algn="just">
              <a:lnSpc>
                <a:spcPct val="106000"/>
              </a:lnSpc>
              <a:spcAft>
                <a:spcPts val="800"/>
              </a:spcAft>
              <a:buFont typeface="Wingdings" panose="05000000000000000000" pitchFamily="2" charset="2"/>
              <a:buChar char="§"/>
            </a:pPr>
            <a:r>
              <a:rPr lang="en-US" sz="1800" dirty="0">
                <a:effectLst/>
                <a:latin typeface="Times New Roman" panose="02020603050405020304" pitchFamily="18" charset="0"/>
                <a:cs typeface="Latha" panose="020B0604020202020204" pitchFamily="34" charset="0"/>
              </a:rPr>
              <a:t>By integrating climate science with cutting-edge computational techniques, researchers are developing innovative solutions that not only improve the accuracy of weather predictions but also contribute to a deeper understanding of climate dynamics and their implications for ecosystems and human societies</a:t>
            </a:r>
            <a:endParaRPr lang="en-US" sz="1400" dirty="0">
              <a:effectLst/>
              <a:latin typeface="Calibri" panose="020F0502020204030204" pitchFamily="34" charset="0"/>
              <a:cs typeface="Latha"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9602"/>
            <a:ext cx="7886700" cy="530258"/>
          </a:xfrm>
        </p:spPr>
        <p:txBody>
          <a:bodyPr>
            <a:no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Objective of the Project</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E240EEE6-4B32-429E-9D31-2A4B6FDCD129}" type="datetime1">
              <a:rPr lang="en-IN" smtClean="0"/>
            </a:fld>
            <a:endParaRPr lang="en-IN"/>
          </a:p>
        </p:txBody>
      </p:sp>
      <p:sp>
        <p:nvSpPr>
          <p:cNvPr id="4" name="Slide Number Placeholder 3"/>
          <p:cNvSpPr>
            <a:spLocks noGrp="1"/>
          </p:cNvSpPr>
          <p:nvPr>
            <p:ph type="sldNum" sz="quarter" idx="12"/>
          </p:nvPr>
        </p:nvSpPr>
        <p:spPr>
          <a:xfrm>
            <a:off x="6457949" y="6356351"/>
            <a:ext cx="2353541" cy="365125"/>
          </a:xfrm>
        </p:spPr>
        <p:txBody>
          <a:bodyPr/>
          <a:lstStyle/>
          <a:p>
            <a:fld id="{9D3FF152-60F5-4862-82F9-1190556AA56F}" type="slidenum">
              <a:rPr lang="en-IN" sz="1400" b="1" smtClean="0">
                <a:solidFill>
                  <a:schemeClr val="tx1"/>
                </a:solidFill>
              </a:rPr>
            </a:fld>
            <a:endParaRPr lang="en-IN" b="1" dirty="0">
              <a:solidFill>
                <a:schemeClr val="tx1"/>
              </a:solidFill>
            </a:endParaRPr>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7" name="TextBox 6"/>
          <p:cNvSpPr txBox="1"/>
          <p:nvPr/>
        </p:nvSpPr>
        <p:spPr>
          <a:xfrm>
            <a:off x="628650" y="1128306"/>
            <a:ext cx="7886699" cy="5030223"/>
          </a:xfrm>
          <a:prstGeom prst="rect">
            <a:avLst/>
          </a:prstGeom>
          <a:noFill/>
        </p:spPr>
        <p:txBody>
          <a:bodyPr wrap="square">
            <a:spAutoFit/>
          </a:bodyPr>
          <a:lstStyle/>
          <a:p>
            <a:pPr algn="just">
              <a:lnSpc>
                <a:spcPct val="150000"/>
              </a:lnSpc>
              <a:spcAft>
                <a:spcPts val="800"/>
              </a:spcAft>
              <a:buNone/>
            </a:pPr>
            <a:r>
              <a:rPr lang="en-US" dirty="0">
                <a:effectLst/>
                <a:latin typeface="Times New Roman" panose="02020603050405020304" pitchFamily="18" charset="0"/>
                <a:cs typeface="Latha" panose="020B0604020202020204" pitchFamily="34" charset="0"/>
              </a:rPr>
              <a:t>1. Develop Advanced Machine Learning Models: Create and optimize machine learning algorithms to enhance the accuracy and efficiency of weather predictions.</a:t>
            </a:r>
            <a:endParaRPr lang="en-US" dirty="0">
              <a:effectLst/>
              <a:latin typeface="Calibri" panose="020F0502020204030204" pitchFamily="34" charset="0"/>
              <a:cs typeface="Latha" panose="020B0604020202020204" pitchFamily="34" charset="0"/>
            </a:endParaRPr>
          </a:p>
          <a:p>
            <a:pPr algn="just">
              <a:lnSpc>
                <a:spcPct val="150000"/>
              </a:lnSpc>
              <a:spcAft>
                <a:spcPts val="800"/>
              </a:spcAft>
              <a:buNone/>
            </a:pPr>
            <a:r>
              <a:rPr lang="en-US" dirty="0">
                <a:effectLst/>
                <a:latin typeface="Times New Roman" panose="02020603050405020304" pitchFamily="18" charset="0"/>
                <a:cs typeface="Latha" panose="020B0604020202020204" pitchFamily="34" charset="0"/>
              </a:rPr>
              <a:t> 2. Integrate Climate Data: Utilize diverse climate datasets, including historical weather patterns, satellite imagery, and atmospheric conditions, to train and validate predictive models.</a:t>
            </a:r>
            <a:endParaRPr lang="en-US" dirty="0">
              <a:effectLst/>
              <a:latin typeface="Calibri" panose="020F0502020204030204" pitchFamily="34" charset="0"/>
              <a:cs typeface="Latha" panose="020B0604020202020204" pitchFamily="34" charset="0"/>
            </a:endParaRPr>
          </a:p>
          <a:p>
            <a:pPr algn="just">
              <a:lnSpc>
                <a:spcPct val="150000"/>
              </a:lnSpc>
              <a:spcAft>
                <a:spcPts val="800"/>
              </a:spcAft>
              <a:buNone/>
            </a:pPr>
            <a:r>
              <a:rPr lang="en-US" dirty="0">
                <a:effectLst/>
                <a:latin typeface="Times New Roman" panose="02020603050405020304" pitchFamily="18" charset="0"/>
                <a:cs typeface="Latha" panose="020B0604020202020204" pitchFamily="34" charset="0"/>
              </a:rPr>
              <a:t> 3. Implement Real-Time Analysis: Enable real-time processing of weather data to provide timely forecasts and alerts for extreme weather events.</a:t>
            </a:r>
            <a:endParaRPr lang="en-US" dirty="0">
              <a:effectLst/>
              <a:latin typeface="Times New Roman" panose="02020603050405020304" pitchFamily="18" charset="0"/>
              <a:cs typeface="Latha" panose="020B0604020202020204" pitchFamily="34" charset="0"/>
            </a:endParaRPr>
          </a:p>
          <a:p>
            <a:pPr algn="just">
              <a:lnSpc>
                <a:spcPct val="150000"/>
              </a:lnSpc>
              <a:spcAft>
                <a:spcPts val="800"/>
              </a:spcAft>
            </a:pPr>
            <a:r>
              <a:rPr lang="en-US" dirty="0">
                <a:effectLst/>
                <a:latin typeface="Times New Roman" panose="02020603050405020304" pitchFamily="18" charset="0"/>
                <a:cs typeface="Latha" panose="020B0604020202020204" pitchFamily="34" charset="0"/>
              </a:rPr>
              <a:t>4. Enhance Predictive Capabilities: Evaluate model performance to improve predictive capabilities and contribute to climate research and sustainable decision-making.</a:t>
            </a:r>
            <a:endParaRPr lang="en-US" dirty="0">
              <a:effectLst/>
              <a:latin typeface="Calibri" panose="020F0502020204030204" pitchFamily="34" charset="0"/>
              <a:cs typeface="Latha" panose="020B0604020202020204" pitchFamily="34" charset="0"/>
            </a:endParaRPr>
          </a:p>
          <a:p>
            <a:pPr algn="just">
              <a:lnSpc>
                <a:spcPct val="150000"/>
              </a:lnSpc>
              <a:spcAft>
                <a:spcPts val="800"/>
              </a:spcAft>
            </a:pPr>
            <a:endParaRPr lang="en-US" dirty="0">
              <a:effectLst/>
              <a:latin typeface="Calibri" panose="020F0502020204030204" pitchFamily="34" charset="0"/>
              <a:cs typeface="Latha"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Literature Survey</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F2382B28-C76E-421D-85B3-89C9075D36D4}" type="datetime1">
              <a:rPr lang="en-IN" smtClean="0"/>
            </a:fld>
            <a:endParaRPr lang="en-IN"/>
          </a:p>
        </p:txBody>
      </p:sp>
      <p:sp>
        <p:nvSpPr>
          <p:cNvPr id="6" name="Slide Number Placeholder 5"/>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3" name="Footer Placeholder 2"/>
          <p:cNvSpPr>
            <a:spLocks noGrp="1"/>
          </p:cNvSpPr>
          <p:nvPr>
            <p:ph type="ftr" sz="quarter" idx="11"/>
          </p:nvPr>
        </p:nvSpPr>
        <p:spPr/>
        <p:txBody>
          <a:bodyPr/>
          <a:lstStyle/>
          <a:p>
            <a:r>
              <a:rPr lang="en-IN"/>
              <a:t>Title of the Project</a:t>
            </a:r>
            <a:endParaRPr lang="en-IN"/>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4465" y="800857"/>
            <a:ext cx="8639653" cy="54508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Literature Survey</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AFFC6AC0-F66E-4680-867A-834DA76782D9}" type="datetime1">
              <a:rPr lang="en-IN" smtClean="0"/>
            </a:fld>
            <a:endParaRPr lang="en-IN"/>
          </a:p>
        </p:txBody>
      </p:sp>
      <p:sp>
        <p:nvSpPr>
          <p:cNvPr id="6" name="Slide Number Placeholder 5"/>
          <p:cNvSpPr>
            <a:spLocks noGrp="1"/>
          </p:cNvSpPr>
          <p:nvPr>
            <p:ph type="sldNum" sz="quarter" idx="12"/>
          </p:nvPr>
        </p:nvSpPr>
        <p:spPr>
          <a:xfrm>
            <a:off x="6634596" y="6326884"/>
            <a:ext cx="2057400" cy="365125"/>
          </a:xfrm>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3" name="Footer Placeholder 2"/>
          <p:cNvSpPr>
            <a:spLocks noGrp="1"/>
          </p:cNvSpPr>
          <p:nvPr>
            <p:ph type="ftr" sz="quarter" idx="11"/>
          </p:nvPr>
        </p:nvSpPr>
        <p:spPr/>
        <p:txBody>
          <a:bodyPr/>
          <a:lstStyle/>
          <a:p>
            <a:r>
              <a:rPr lang="en-IN"/>
              <a:t>Title of the Project</a:t>
            </a:r>
            <a:endParaRPr lang="en-IN"/>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5249" y="776927"/>
            <a:ext cx="8103616" cy="57619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03987"/>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Problem Statement</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F455D1BD-F729-4AF1-B27A-A2B4224E89E6}" type="datetime1">
              <a:rPr lang="en-IN" smtClean="0"/>
            </a:fld>
            <a:endParaRPr lang="en-IN"/>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7" name="TextBox 6"/>
          <p:cNvSpPr txBox="1"/>
          <p:nvPr/>
        </p:nvSpPr>
        <p:spPr>
          <a:xfrm>
            <a:off x="403122" y="1166842"/>
            <a:ext cx="8337755" cy="4524315"/>
          </a:xfrm>
          <a:prstGeom prst="rect">
            <a:avLst/>
          </a:prstGeom>
          <a:noFill/>
        </p:spPr>
        <p:txBody>
          <a:bodyPr wrap="square">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Weather forecasting is a critical task that affects various sectors, including agriculture, transportation, disaster management, and public safety. Traditional weather prediction methods rely on numerical models that often struggle with accuracy, computational efficiency, and real-time adaptability. </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These conventional approaches require extensive data processing, making them slow and resource-intensive, leading to delayed or imprecise forecasts.</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With climate change and increasing extreme weather events, there is an urgent need for a more accurate, data-driven, and efficient forecasting system.</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Machine learning (ML) provides an opportunity to enhance prediction accuracy by analyzing large datasets, identifying complex weather patterns, and generating faster forecasts. However, challenges such as data quality, model selection, and computational requirements must be addressed for effective implementation.</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Proposed System</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3487E929-4048-4FA8-8BB8-CA6B1DEE6F8B}" type="datetime1">
              <a:rPr lang="en-IN" smtClean="0"/>
            </a:fld>
            <a:endParaRPr lang="en-IN"/>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7" name="TextBox 6"/>
          <p:cNvSpPr txBox="1"/>
          <p:nvPr/>
        </p:nvSpPr>
        <p:spPr>
          <a:xfrm>
            <a:off x="628650" y="848644"/>
            <a:ext cx="8022508" cy="5355312"/>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For weather prediction using advanced machine learning models within the Django framework for local host server applications, the proposed system integrates sophisticated algorithms to predictions meteorological conditions with high accuracy. </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Leveraging Django's robust capabilities in handling data processing and model deployment, the system will fetch real-time or historical weather data from external sources or a database. </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Machine learning models such as deep learning neural networks, ensemble methods and statistical techniques will be employed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and predict weather patterns.</a:t>
            </a:r>
            <a:endParaRPr lang="en-AU"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The Django application will feature components for data preprocessing, model training, and inference. Users can interact through a user-friendly interface to input location-specific parameters or select predefined regions for weather forecasts. </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will generate predictions based on the trained models, presenting results through visualizations or textual summaries that detail expected conditions like temperature, precipitation, wind speed, and humidity. Leveraging Django's scalability and flexibility in managing complex data workflows and model interactions.</a:t>
            </a:r>
            <a:endParaRPr lang="en-AU"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29784"/>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Software / Hardware used</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FAF13B13-FE7B-44B3-A17C-0E207613EA14}" type="datetime1">
              <a:rPr lang="en-IN" smtClean="0"/>
            </a:fld>
            <a:endParaRPr lang="en-IN"/>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fld>
            <a:endParaRPr lang="en-IN" sz="1400" b="1" dirty="0">
              <a:solidFill>
                <a:schemeClr val="tx1"/>
              </a:solidFill>
            </a:endParaRPr>
          </a:p>
        </p:txBody>
      </p:sp>
      <p:sp>
        <p:nvSpPr>
          <p:cNvPr id="5" name="Footer Placeholder 4"/>
          <p:cNvSpPr>
            <a:spLocks noGrp="1"/>
          </p:cNvSpPr>
          <p:nvPr>
            <p:ph type="ftr" sz="quarter" idx="11"/>
          </p:nvPr>
        </p:nvSpPr>
        <p:spPr/>
        <p:txBody>
          <a:bodyPr/>
          <a:lstStyle/>
          <a:p>
            <a:r>
              <a:rPr lang="en-IN"/>
              <a:t>Title of the Project</a:t>
            </a:r>
            <a:endParaRPr lang="en-IN"/>
          </a:p>
        </p:txBody>
      </p:sp>
      <p:sp>
        <p:nvSpPr>
          <p:cNvPr id="7" name="TextBox 6"/>
          <p:cNvSpPr txBox="1"/>
          <p:nvPr/>
        </p:nvSpPr>
        <p:spPr>
          <a:xfrm>
            <a:off x="1120877" y="1873326"/>
            <a:ext cx="7148051" cy="2585323"/>
          </a:xfrm>
          <a:prstGeom prst="rect">
            <a:avLst/>
          </a:prstGeom>
          <a:noFill/>
        </p:spPr>
        <p:txBody>
          <a:bodyPr wrap="square">
            <a:spAutoFit/>
          </a:bodyPr>
          <a:lstStyle/>
          <a:p>
            <a:pPr marL="45720" indent="0">
              <a:buNone/>
            </a:pPr>
            <a:r>
              <a:rPr lang="en-US" b="1" dirty="0">
                <a:latin typeface="Times New Roman" panose="02020603050405020304" pitchFamily="18" charset="0"/>
                <a:cs typeface="Times New Roman" panose="02020603050405020304" pitchFamily="18" charset="0"/>
              </a:rPr>
              <a:t>1. Software Requirements:</a:t>
            </a:r>
            <a:endParaRPr lang="en-IN" b="1" dirty="0">
              <a:latin typeface="Times New Roman" panose="02020603050405020304" pitchFamily="18" charset="0"/>
              <a:cs typeface="Times New Roman" panose="02020603050405020304" pitchFamily="18" charset="0"/>
            </a:endParaRPr>
          </a:p>
          <a:p>
            <a:pPr marL="45720" indent="0">
              <a:buNone/>
            </a:pPr>
            <a:r>
              <a:rPr lang="en-US" dirty="0">
                <a:latin typeface="Times New Roman" panose="02020603050405020304" pitchFamily="18" charset="0"/>
                <a:cs typeface="Times New Roman" panose="02020603050405020304" pitchFamily="18" charset="0"/>
              </a:rPr>
              <a:t>	Operating System 	: Windows </a:t>
            </a:r>
            <a:endParaRPr lang="en-IN" dirty="0">
              <a:latin typeface="Times New Roman" panose="02020603050405020304" pitchFamily="18" charset="0"/>
              <a:cs typeface="Times New Roman" panose="02020603050405020304" pitchFamily="18" charset="0"/>
            </a:endParaRPr>
          </a:p>
          <a:p>
            <a:pPr marL="45720" indent="0">
              <a:buNone/>
            </a:pPr>
            <a:r>
              <a:rPr lang="en-US" dirty="0">
                <a:latin typeface="Times New Roman" panose="02020603050405020304" pitchFamily="18" charset="0"/>
                <a:cs typeface="Times New Roman" panose="02020603050405020304" pitchFamily="18" charset="0"/>
              </a:rPr>
              <a:t>	Tool   			: Anaconda with  </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a:t>
            </a:r>
            <a:endParaRPr lang="en-IN" dirty="0">
              <a:latin typeface="Times New Roman" panose="02020603050405020304" pitchFamily="18" charset="0"/>
              <a:cs typeface="Times New Roman" panose="02020603050405020304" pitchFamily="18" charset="0"/>
            </a:endParaRPr>
          </a:p>
          <a:p>
            <a:pPr marL="45720" indent="0">
              <a:buNone/>
            </a:pPr>
            <a:endParaRPr lang="en-US" dirty="0">
              <a:latin typeface="Times New Roman" panose="02020603050405020304" pitchFamily="18" charset="0"/>
              <a:cs typeface="Times New Roman" panose="02020603050405020304" pitchFamily="18" charset="0"/>
            </a:endParaRPr>
          </a:p>
          <a:p>
            <a:pPr marL="45720" indent="0">
              <a:buNone/>
            </a:pPr>
            <a:endParaRPr lang="en-US" b="1" dirty="0">
              <a:latin typeface="Times New Roman" panose="02020603050405020304" pitchFamily="18" charset="0"/>
              <a:cs typeface="Times New Roman" panose="02020603050405020304" pitchFamily="18" charset="0"/>
            </a:endParaRPr>
          </a:p>
          <a:p>
            <a:pPr marL="45720" indent="0">
              <a:buNone/>
            </a:pPr>
            <a:r>
              <a:rPr lang="en-US" b="1" dirty="0">
                <a:latin typeface="Times New Roman" panose="02020603050405020304" pitchFamily="18" charset="0"/>
                <a:cs typeface="Times New Roman" panose="02020603050405020304" pitchFamily="18" charset="0"/>
              </a:rPr>
              <a:t>2. Hardware requirements:</a:t>
            </a:r>
            <a:endParaRPr lang="en-IN" b="1" dirty="0">
              <a:latin typeface="Times New Roman" panose="02020603050405020304" pitchFamily="18" charset="0"/>
              <a:cs typeface="Times New Roman" panose="02020603050405020304" pitchFamily="18" charset="0"/>
            </a:endParaRPr>
          </a:p>
          <a:p>
            <a:pPr marL="45720" indent="0">
              <a:buNone/>
            </a:pPr>
            <a:r>
              <a:rPr lang="en-US" dirty="0">
                <a:latin typeface="Times New Roman" panose="02020603050405020304" pitchFamily="18" charset="0"/>
                <a:cs typeface="Times New Roman" panose="02020603050405020304" pitchFamily="18" charset="0"/>
              </a:rPr>
              <a:t>	Processor   		: Intel core i5 or AMD Ryzen 5</a:t>
            </a:r>
            <a:endParaRPr lang="en-IN" dirty="0">
              <a:latin typeface="Times New Roman" panose="02020603050405020304" pitchFamily="18" charset="0"/>
              <a:cs typeface="Times New Roman" panose="02020603050405020304" pitchFamily="18" charset="0"/>
            </a:endParaRPr>
          </a:p>
          <a:p>
            <a:pPr marL="45720" indent="0">
              <a:buNone/>
            </a:pPr>
            <a:r>
              <a:rPr lang="en-US" dirty="0">
                <a:latin typeface="Times New Roman" panose="02020603050405020304" pitchFamily="18" charset="0"/>
                <a:cs typeface="Times New Roman" panose="02020603050405020304" pitchFamily="18" charset="0"/>
              </a:rPr>
              <a:t>	Hard disk   		: minimum 300 GB</a:t>
            </a:r>
            <a:endParaRPr lang="en-IN" dirty="0">
              <a:latin typeface="Times New Roman" panose="02020603050405020304" pitchFamily="18" charset="0"/>
              <a:cs typeface="Times New Roman" panose="02020603050405020304" pitchFamily="18" charset="0"/>
            </a:endParaRPr>
          </a:p>
          <a:p>
            <a:pPr marL="45720" indent="0">
              <a:buNone/>
            </a:pPr>
            <a:r>
              <a:rPr lang="en-US" dirty="0">
                <a:latin typeface="Times New Roman" panose="02020603050405020304" pitchFamily="18" charset="0"/>
                <a:cs typeface="Times New Roman" panose="02020603050405020304" pitchFamily="18" charset="0"/>
              </a:rPr>
              <a:t>	RAM        		: minimum 4 GB</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Architecture Diagram</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C4BC039F-0198-485D-A7BF-5D1B9E0B2CD8}" type="datetime1">
              <a:rPr lang="en-IN" smtClean="0"/>
            </a:fld>
            <a:endParaRPr lang="en-IN"/>
          </a:p>
        </p:txBody>
      </p:sp>
      <p:sp>
        <p:nvSpPr>
          <p:cNvPr id="4" name="Slide Number Placeholder 3"/>
          <p:cNvSpPr>
            <a:spLocks noGrp="1"/>
          </p:cNvSpPr>
          <p:nvPr>
            <p:ph type="sldNum" sz="quarter" idx="12"/>
          </p:nvPr>
        </p:nvSpPr>
        <p:spPr/>
        <p:txBody>
          <a:bodyPr/>
          <a:lstStyle/>
          <a:p>
            <a:fld id="{9D3FF152-60F5-4862-82F9-1190556AA56F}" type="slidenum">
              <a:rPr lang="en-IN" sz="1400" b="1" smtClean="0">
                <a:solidFill>
                  <a:schemeClr val="tx1"/>
                </a:solidFill>
              </a:rPr>
            </a:fld>
            <a:endParaRPr lang="en-IN" b="1" dirty="0">
              <a:solidFill>
                <a:schemeClr val="tx1"/>
              </a:solidFill>
            </a:endParaRPr>
          </a:p>
        </p:txBody>
      </p:sp>
      <p:sp>
        <p:nvSpPr>
          <p:cNvPr id="5" name="Footer Placeholder 4"/>
          <p:cNvSpPr>
            <a:spLocks noGrp="1"/>
          </p:cNvSpPr>
          <p:nvPr>
            <p:ph type="ftr" sz="quarter" idx="11"/>
          </p:nvPr>
        </p:nvSpPr>
        <p:spPr/>
        <p:txBody>
          <a:bodyPr/>
          <a:lstStyle/>
          <a:p>
            <a:r>
              <a:rPr lang="en-IN"/>
              <a:t>Title of the Project</a:t>
            </a:r>
            <a:endParaRPr lang="en-IN"/>
          </a:p>
        </p:txBody>
      </p:sp>
      <p:pic>
        <p:nvPicPr>
          <p:cNvPr id="7" name="Picture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96181" y="976058"/>
            <a:ext cx="6282813" cy="51004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Bagging Classifier Diagram</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E423047D-1ACD-4B81-ACD0-B5BF1E815C27}" type="datetime1">
              <a:rPr lang="en-IN" smtClean="0"/>
            </a:fld>
            <a:endParaRPr lang="en-IN"/>
          </a:p>
        </p:txBody>
      </p:sp>
      <p:sp>
        <p:nvSpPr>
          <p:cNvPr id="8" name="Slide Number Placeholder 7"/>
          <p:cNvSpPr>
            <a:spLocks noGrp="1"/>
          </p:cNvSpPr>
          <p:nvPr>
            <p:ph type="sldNum" sz="quarter" idx="12"/>
          </p:nvPr>
        </p:nvSpPr>
        <p:spPr/>
        <p:txBody>
          <a:bodyPr/>
          <a:lstStyle/>
          <a:p>
            <a:fld id="{9D3FF152-60F5-4862-82F9-1190556AA56F}" type="slidenum">
              <a:rPr lang="en-IN" sz="1400" b="1" smtClean="0">
                <a:solidFill>
                  <a:schemeClr val="tx1"/>
                </a:solidFill>
              </a:rPr>
            </a:fld>
            <a:endParaRPr lang="en-IN" b="1" dirty="0">
              <a:solidFill>
                <a:schemeClr val="tx1"/>
              </a:solidFill>
            </a:endParaRPr>
          </a:p>
        </p:txBody>
      </p:sp>
      <p:sp>
        <p:nvSpPr>
          <p:cNvPr id="3" name="Footer Placeholder 2"/>
          <p:cNvSpPr>
            <a:spLocks noGrp="1"/>
          </p:cNvSpPr>
          <p:nvPr>
            <p:ph type="ftr" sz="quarter" idx="11"/>
          </p:nvPr>
        </p:nvSpPr>
        <p:spPr/>
        <p:txBody>
          <a:bodyPr/>
          <a:lstStyle/>
          <a:p>
            <a:r>
              <a:rPr lang="en-IN"/>
              <a:t>Title of the Project</a:t>
            </a:r>
            <a:endParaRPr lang="en-IN"/>
          </a:p>
        </p:txBody>
      </p:sp>
      <p:pic>
        <p:nvPicPr>
          <p:cNvPr id="2064503529"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88565" y="851535"/>
            <a:ext cx="5835650" cy="5505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Ridge Classifier Diagram</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A652B166-E552-49C8-82FD-C8E8EAC02627}" type="datetime1">
              <a:rPr lang="en-IN" smtClean="0"/>
            </a:fld>
            <a:endParaRPr lang="en-IN"/>
          </a:p>
        </p:txBody>
      </p:sp>
      <p:sp>
        <p:nvSpPr>
          <p:cNvPr id="8" name="Slide Number Placeholder 7"/>
          <p:cNvSpPr>
            <a:spLocks noGrp="1"/>
          </p:cNvSpPr>
          <p:nvPr>
            <p:ph type="sldNum" sz="quarter" idx="12"/>
          </p:nvPr>
        </p:nvSpPr>
        <p:spPr/>
        <p:txBody>
          <a:bodyPr/>
          <a:lstStyle/>
          <a:p>
            <a:fld id="{9D3FF152-60F5-4862-82F9-1190556AA56F}" type="slidenum">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pic>
        <p:nvPicPr>
          <p:cNvPr id="1186635667"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318510" y="608965"/>
            <a:ext cx="2884170" cy="564007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600" b="1" dirty="0">
                <a:solidFill>
                  <a:srgbClr val="7030A0"/>
                </a:solidFill>
                <a:latin typeface="Times New Roman" panose="02020603050405020304" pitchFamily="18" charset="0"/>
                <a:cs typeface="Times New Roman" panose="02020603050405020304" pitchFamily="18" charset="0"/>
              </a:rPr>
              <a:t>Extra Tree Classifier Diagram</a:t>
            </a:r>
            <a:endParaRPr lang="en-IN" sz="3600" b="1" dirty="0">
              <a:solidFill>
                <a:srgbClr val="7030A0"/>
              </a:solidFill>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93C8E2EA-5B1E-4C4B-8119-2064F1198F72}" type="datetime1">
              <a:rPr lang="en-IN" smtClean="0"/>
            </a:fld>
            <a:endParaRPr lang="en-IN"/>
          </a:p>
        </p:txBody>
      </p:sp>
      <p:sp>
        <p:nvSpPr>
          <p:cNvPr id="8" name="Slide Number Placeholder 7"/>
          <p:cNvSpPr>
            <a:spLocks noGrp="1"/>
          </p:cNvSpPr>
          <p:nvPr>
            <p:ph type="sldNum" sz="quarter" idx="12"/>
          </p:nvPr>
        </p:nvSpPr>
        <p:spPr/>
        <p:txBody>
          <a:bodyPr/>
          <a:lstStyle/>
          <a:p>
            <a:fld id="{9D3FF152-60F5-4862-82F9-1190556AA56F}" type="slidenum">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164840" y="862965"/>
            <a:ext cx="2665095" cy="54178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80623"/>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Proposed Module</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2D949113-FF7A-40B9-8139-10E567AB16BA}"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1052052" y="1278038"/>
            <a:ext cx="7207660" cy="5078313"/>
          </a:xfrm>
          <a:prstGeom prst="rect">
            <a:avLst/>
          </a:prstGeom>
          <a:noFill/>
        </p:spPr>
        <p:txBody>
          <a:bodyPr wrap="square">
            <a:spAutoFit/>
          </a:bodyPr>
          <a:lstStyle/>
          <a:p>
            <a:pPr marL="342900" indent="-342900" algn="just">
              <a:buAutoNum type="arabicPeriod"/>
            </a:pPr>
            <a:r>
              <a:rPr lang="en-IN" sz="2000" b="1" dirty="0">
                <a:latin typeface="Times New Roman" panose="02020603050405020304" pitchFamily="18" charset="0"/>
                <a:cs typeface="Times New Roman" panose="02020603050405020304" pitchFamily="18" charset="0"/>
              </a:rPr>
              <a:t>Data Pre-processing</a:t>
            </a:r>
            <a:endParaRPr lang="en-IN" sz="2000" b="1" dirty="0">
              <a:latin typeface="Times New Roman" panose="02020603050405020304" pitchFamily="18" charset="0"/>
              <a:cs typeface="Times New Roman" panose="02020603050405020304" pitchFamily="18" charset="0"/>
            </a:endParaRPr>
          </a:p>
          <a:p>
            <a:pPr marL="342900" indent="-342900" algn="just">
              <a:buAutoNum type="arabicPeriod"/>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Validation techniques in machine learning are used to get the error rate of the Machine Learning (ML) model, which can be considered as close to the true error rate of the dataset. </a:t>
            </a: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If the data volume is large enough to be representative of the population, you may not need the validation techniques. However, in real-world scenarios, to work with samples of data that may not be a true representative of the population of given dataset. </a:t>
            </a: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To finding the missing value, duplicate value and description of data type whether it is float variable or integer. </a:t>
            </a: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The sample of data used to provide an unbiased evaluation of a model fit on the training dataset while tuning model hyper parameters.</a:t>
            </a: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07034"/>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Proposed Module</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942300" y="2005801"/>
            <a:ext cx="7445231" cy="3416320"/>
          </a:xfrm>
          <a:prstGeom prst="rect">
            <a:avLst/>
          </a:prstGeom>
          <a:noFill/>
        </p:spPr>
        <p:txBody>
          <a:bodyPr wrap="square">
            <a:spAutoFit/>
          </a:bodyPr>
          <a:lstStyle/>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Importing the library packages with loading given dataset. To </a:t>
            </a:r>
            <a:r>
              <a:rPr lang="en-IN" dirty="0" err="1">
                <a:latin typeface="Times New Roman" panose="02020603050405020304" pitchFamily="18" charset="0"/>
                <a:cs typeface="Times New Roman" panose="02020603050405020304" pitchFamily="18" charset="0"/>
              </a:rPr>
              <a:t>analyzing</a:t>
            </a:r>
            <a:r>
              <a:rPr lang="en-IN" dirty="0">
                <a:latin typeface="Times New Roman" panose="02020603050405020304" pitchFamily="18" charset="0"/>
                <a:cs typeface="Times New Roman" panose="02020603050405020304" pitchFamily="18" charset="0"/>
              </a:rPr>
              <a:t> the variable identification by data shape, data type and evaluating the missing values, duplicate values.</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A validation dataset is a sample of data held back from training your model that is used to give an estimate of model skill while tuning model's and procedures that you can use to make the best use of validation and test datasets when evaluating your models. </a:t>
            </a: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Data cleaning / preparing by rename the given dataset and drop the column etc</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IN"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32F8DBF1-1527-4697-BE85-B9C494A9BC35}"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1070119" y="1208042"/>
            <a:ext cx="4572000" cy="707886"/>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2. Data Validation process</a:t>
            </a:r>
            <a:br>
              <a:rPr lang="en-IN" sz="2000" b="1"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52804"/>
            <a:ext cx="7886700" cy="530258"/>
          </a:xfrm>
        </p:spPr>
        <p:txBody>
          <a:bodyPr>
            <a:noAutofit/>
          </a:bodyPr>
          <a:lstStyle/>
          <a:p>
            <a:pPr algn="ctr"/>
            <a:r>
              <a:rPr lang="en-IN" sz="3200" b="1" dirty="0">
                <a:solidFill>
                  <a:srgbClr val="7030A0"/>
                </a:solidFill>
                <a:latin typeface="Times New Roman" panose="02020603050405020304" pitchFamily="18" charset="0"/>
                <a:cs typeface="Times New Roman" panose="02020603050405020304" pitchFamily="18" charset="0"/>
              </a:rPr>
              <a:t>Algorithm And Techniques</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BF12D3EE-FD66-4677-80BB-D7D610DDE236}"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10" name="TextBox 9"/>
          <p:cNvSpPr txBox="1"/>
          <p:nvPr/>
        </p:nvSpPr>
        <p:spPr>
          <a:xfrm>
            <a:off x="771832" y="1303264"/>
            <a:ext cx="4572000" cy="707886"/>
          </a:xfrm>
          <a:prstGeom prst="rect">
            <a:avLst/>
          </a:prstGeom>
          <a:noFill/>
        </p:spPr>
        <p:txBody>
          <a:bodyPr wrap="square">
            <a:spAutoFit/>
          </a:bodyPr>
          <a:lstStyle/>
          <a:p>
            <a:r>
              <a:rPr lang="en-IN" sz="2000" b="1" dirty="0">
                <a:effectLst/>
                <a:latin typeface="Times New Roman" panose="02020603050405020304" pitchFamily="18" charset="0"/>
                <a:cs typeface="Times New Roman" panose="02020603050405020304" pitchFamily="18" charset="0"/>
              </a:rPr>
              <a:t>1. Ridge Classifier</a:t>
            </a:r>
            <a:br>
              <a:rPr lang="en-AU" sz="2000" b="1" dirty="0">
                <a:effectLst/>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771832" y="1888887"/>
            <a:ext cx="7600336" cy="3693319"/>
          </a:xfrm>
          <a:prstGeom prst="rect">
            <a:avLst/>
          </a:prstGeom>
          <a:noFill/>
        </p:spPr>
        <p:txBody>
          <a:bodyPr wrap="square">
            <a:spAutoFit/>
          </a:bodyPr>
          <a:lstStyle/>
          <a:p>
            <a:pPr marL="285750" indent="-285750" algn="just">
              <a:buFont typeface="Wingdings" panose="05000000000000000000" pitchFamily="2" charset="2"/>
              <a:buChar char="§"/>
            </a:pPr>
            <a:r>
              <a:rPr lang="en-IN" dirty="0">
                <a:effectLst/>
                <a:latin typeface="Times New Roman" panose="02020603050405020304" pitchFamily="18" charset="0"/>
                <a:cs typeface="Times New Roman" panose="02020603050405020304" pitchFamily="18" charset="0"/>
              </a:rPr>
              <a:t>Ridge Classifier is a type of linear classifier that incorporates L2 regularization to prevent overfitting while improving generalization performance. </a:t>
            </a:r>
            <a:endParaRPr lang="en-IN"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effectLst/>
                <a:latin typeface="Times New Roman" panose="02020603050405020304" pitchFamily="18" charset="0"/>
                <a:cs typeface="Times New Roman" panose="02020603050405020304" pitchFamily="18" charset="0"/>
              </a:rPr>
              <a:t>It is particularly useful in situations where the number of features exceeds the number of observations or when multicollinearity exists among features. </a:t>
            </a:r>
            <a:endParaRPr lang="en-IN"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effectLst/>
                <a:latin typeface="Times New Roman" panose="02020603050405020304" pitchFamily="18" charset="0"/>
                <a:cs typeface="Times New Roman" panose="02020603050405020304" pitchFamily="18" charset="0"/>
              </a:rPr>
              <a:t>By adding a penalty term to the loss function, Ridge Classifier minimizes the coefficients of the linear equation, effectively shrinking them towards zero without completely eliminating any of them. </a:t>
            </a:r>
            <a:endParaRPr lang="en-IN"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effectLst/>
                <a:latin typeface="Times New Roman" panose="02020603050405020304" pitchFamily="18" charset="0"/>
                <a:cs typeface="Times New Roman" panose="02020603050405020304" pitchFamily="18" charset="0"/>
              </a:rPr>
              <a:t>This process helps to retain all features in the model while controlling their influence, making it suitable for high-dimensional datasets.</a:t>
            </a:r>
            <a:endParaRPr lang="en-AU"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08729"/>
            <a:ext cx="7886700" cy="530258"/>
          </a:xfrm>
        </p:spPr>
        <p:txBody>
          <a:bodyPr>
            <a:noAutofit/>
          </a:bodyPr>
          <a:lstStyle/>
          <a:p>
            <a:pPr algn="ctr"/>
            <a:r>
              <a:rPr lang="en-IN" sz="3200" b="1" dirty="0">
                <a:solidFill>
                  <a:srgbClr val="7030A0"/>
                </a:solidFill>
                <a:latin typeface="Times New Roman" panose="02020603050405020304" pitchFamily="18" charset="0"/>
                <a:cs typeface="Times New Roman" panose="02020603050405020304" pitchFamily="18" charset="0"/>
              </a:rPr>
              <a:t>Algorithm And Techniques</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150375" y="1011517"/>
            <a:ext cx="457200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2</a:t>
            </a:r>
            <a:r>
              <a:rPr lang="en-IN" sz="2000" b="1" dirty="0">
                <a:effectLst/>
                <a:latin typeface="Times New Roman" panose="02020603050405020304" pitchFamily="18" charset="0"/>
                <a:cs typeface="Times New Roman" panose="02020603050405020304" pitchFamily="18" charset="0"/>
              </a:rPr>
              <a:t>. Bagging Classifier</a:t>
            </a:r>
            <a:endParaRPr lang="en-IN" sz="2000" b="1"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7873791D-E80F-45A0-8335-C0B2BEA6B232}"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1150375" y="1459430"/>
            <a:ext cx="7630446" cy="4801314"/>
          </a:xfrm>
          <a:prstGeom prst="rect">
            <a:avLst/>
          </a:prstGeom>
          <a:noFill/>
        </p:spPr>
        <p:txBody>
          <a:bodyPr wrap="square">
            <a:spAutoFit/>
          </a:bodyPr>
          <a:lstStyle/>
          <a:p>
            <a:pPr marL="285750" indent="-285750" algn="just">
              <a:buFont typeface="Wingdings" panose="05000000000000000000" pitchFamily="2" charset="2"/>
              <a:buChar char="§"/>
            </a:pPr>
            <a:r>
              <a:rPr lang="en-IN" dirty="0">
                <a:effectLst/>
                <a:latin typeface="Times New Roman" panose="02020603050405020304" pitchFamily="18" charset="0"/>
                <a:cs typeface="Times New Roman" panose="02020603050405020304" pitchFamily="18" charset="0"/>
              </a:rPr>
              <a:t>Bagging, or Bootstrap Aggregating, is an ensemble machine learning technique designed to improve the stability and accuracy of algorithms used in classification and regression tasks.</a:t>
            </a:r>
            <a:endParaRPr lang="en-IN"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effectLst/>
                <a:latin typeface="Times New Roman" panose="02020603050405020304" pitchFamily="18" charset="0"/>
                <a:cs typeface="Times New Roman" panose="02020603050405020304" pitchFamily="18" charset="0"/>
              </a:rPr>
              <a:t> The method operates by creating multiple versions of a predictor model, trained on different subsets of the training dataset. These subsets are generated through a process called bootstrap sampling, where random samples are drawn with replacement. </a:t>
            </a:r>
            <a:endParaRPr lang="en-IN"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IN"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effectLst/>
                <a:latin typeface="Times New Roman" panose="02020603050405020304" pitchFamily="18" charset="0"/>
                <a:cs typeface="Times New Roman" panose="02020603050405020304" pitchFamily="18" charset="0"/>
              </a:rPr>
              <a:t>The final prediction is made by aggregating the predictions of all the individual models, typically through majority voting for classification tasks or averaging for regression tasks.</a:t>
            </a:r>
            <a:endParaRPr lang="en-IN" dirty="0">
              <a:effectLst/>
              <a:latin typeface="Times New Roman" panose="02020603050405020304" pitchFamily="18" charset="0"/>
              <a:cs typeface="Times New Roman" panose="02020603050405020304" pitchFamily="18" charset="0"/>
            </a:endParaRPr>
          </a:p>
          <a:p>
            <a:pPr algn="just"/>
            <a:r>
              <a:rPr lang="en-IN" dirty="0">
                <a:effectLst/>
                <a:latin typeface="Times New Roman" panose="02020603050405020304" pitchFamily="18" charset="0"/>
                <a:cs typeface="Times New Roman" panose="02020603050405020304" pitchFamily="18" charset="0"/>
              </a:rPr>
              <a:t> </a:t>
            </a:r>
            <a:endParaRPr lang="en-IN"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IN" dirty="0">
                <a:effectLst/>
                <a:latin typeface="Times New Roman" panose="02020603050405020304" pitchFamily="18" charset="0"/>
                <a:cs typeface="Times New Roman" panose="02020603050405020304" pitchFamily="18" charset="0"/>
              </a:rPr>
              <a:t>This approach helps to reduce variance and mitigate overfitting, making bagging particularly effective for high-variance algorithms such as decision trees.</a:t>
            </a:r>
            <a:endParaRPr lang="en-AU" dirty="0">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AU"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953" y="-94289"/>
            <a:ext cx="7886700" cy="1325563"/>
          </a:xfrm>
        </p:spPr>
        <p:txBody>
          <a:bodyPr>
            <a:normAutofit/>
          </a:bodyPr>
          <a:lstStyle/>
          <a:p>
            <a:pPr algn="ctr"/>
            <a:r>
              <a:rPr lang="en-IN" sz="3200" b="1" dirty="0">
                <a:solidFill>
                  <a:srgbClr val="7030A0"/>
                </a:solidFill>
                <a:latin typeface="Times New Roman" panose="02020603050405020304" pitchFamily="18" charset="0"/>
                <a:cs typeface="Times New Roman" panose="02020603050405020304" pitchFamily="18" charset="0"/>
              </a:rPr>
              <a:t>Algorithm And Techniques</a:t>
            </a:r>
            <a:endParaRPr lang="en-IN" sz="3200" dirty="0"/>
          </a:p>
        </p:txBody>
      </p:sp>
      <p:sp>
        <p:nvSpPr>
          <p:cNvPr id="3" name="Content Placeholder 2"/>
          <p:cNvSpPr>
            <a:spLocks noGrp="1"/>
          </p:cNvSpPr>
          <p:nvPr>
            <p:ph idx="1"/>
          </p:nvPr>
        </p:nvSpPr>
        <p:spPr>
          <a:xfrm>
            <a:off x="983226" y="917101"/>
            <a:ext cx="7355144" cy="4351338"/>
          </a:xfrm>
        </p:spPr>
        <p:txBody>
          <a:bodyPr>
            <a:noAutofit/>
          </a:bodyPr>
          <a:lstStyle/>
          <a:p>
            <a:pPr marL="0" indent="0" algn="just">
              <a:buNone/>
            </a:pPr>
            <a:endParaRPr lang="en-AU" sz="1800" dirty="0">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IN" sz="1800" dirty="0">
                <a:effectLst/>
                <a:latin typeface="Times New Roman" panose="02020603050405020304" pitchFamily="18" charset="0"/>
                <a:cs typeface="Times New Roman" panose="02020603050405020304" pitchFamily="18" charset="0"/>
              </a:rPr>
              <a:t>The Extra Trees (Extremely Randomized Trees) Classifier is an ensemble learning method that builds upon the foundational principles of decision trees. </a:t>
            </a:r>
            <a:endParaRPr lang="en-IN" sz="1800" dirty="0">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IN" sz="1800" dirty="0">
                <a:effectLst/>
                <a:latin typeface="Times New Roman" panose="02020603050405020304" pitchFamily="18" charset="0"/>
                <a:cs typeface="Times New Roman" panose="02020603050405020304" pitchFamily="18" charset="0"/>
              </a:rPr>
              <a:t>It is part of the family of ensemble methods that combine the predictions of multiple base estimators to improve overall performance and robustness. Unlike traditional decision trees that often suffer from overfitting, Extra Trees aims to enhance the model's accuracy and generalizability by introducing randomness in two key aspects: the selection of the features and the decision thresholds. This leads to the creation of diverse trees, each trained on a different subset of the data, thus reducing variance and increasing predictive power.</a:t>
            </a:r>
            <a:endParaRPr lang="en-AU" sz="1800" dirty="0">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IN" sz="1800" dirty="0">
                <a:effectLst/>
                <a:latin typeface="Times New Roman" panose="02020603050405020304" pitchFamily="18" charset="0"/>
                <a:cs typeface="Times New Roman" panose="02020603050405020304" pitchFamily="18" charset="0"/>
              </a:rPr>
              <a:t>The algorithm operates by generating a large number of decision trees during the training phase, each using a random subset of the training data and features. </a:t>
            </a:r>
            <a:endParaRPr lang="en-IN" sz="1800" dirty="0">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IN" sz="1800" dirty="0">
                <a:effectLst/>
                <a:latin typeface="Times New Roman" panose="02020603050405020304" pitchFamily="18" charset="0"/>
                <a:cs typeface="Times New Roman" panose="02020603050405020304" pitchFamily="18" charset="0"/>
              </a:rPr>
              <a:t>This extreme randomness in feature selection helps to create a robust model that is less sensitive to noise and outliers in the data. The final prediction is obtained through the aggregation of the predictions from all individual trees, typically using a majority vote for classification tasks or averaging for regression tasks.</a:t>
            </a:r>
            <a:endParaRPr lang="en-AU" sz="1800" dirty="0">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endParaRPr lang="en-IN"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1D432E2-0806-4929-8779-EE88DDC47E47}" type="datetime1">
              <a:rPr lang="en-IN" smtClean="0"/>
            </a:fld>
            <a:endParaRPr lang="en-IN"/>
          </a:p>
        </p:txBody>
      </p:sp>
      <p:sp>
        <p:nvSpPr>
          <p:cNvPr id="5" name="Footer Placeholder 4"/>
          <p:cNvSpPr>
            <a:spLocks noGrp="1"/>
          </p:cNvSpPr>
          <p:nvPr>
            <p:ph type="ftr" sz="quarter" idx="11"/>
          </p:nvPr>
        </p:nvSpPr>
        <p:spPr/>
        <p:txBody>
          <a:bodyPr/>
          <a:lstStyle/>
          <a:p>
            <a:r>
              <a:rPr lang="en-IN" dirty="0"/>
              <a:t>Title of the Project</a:t>
            </a:r>
            <a:endParaRPr lang="en-IN" dirty="0"/>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
        <p:nvSpPr>
          <p:cNvPr id="8" name="TextBox 7"/>
          <p:cNvSpPr txBox="1"/>
          <p:nvPr/>
        </p:nvSpPr>
        <p:spPr>
          <a:xfrm>
            <a:off x="983226" y="831164"/>
            <a:ext cx="457200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3.</a:t>
            </a:r>
            <a:r>
              <a:rPr lang="en-IN" sz="2000" b="1" dirty="0">
                <a:effectLst/>
                <a:latin typeface="Times New Roman" panose="02020603050405020304" pitchFamily="18" charset="0"/>
                <a:cs typeface="Times New Roman" panose="02020603050405020304" pitchFamily="18" charset="0"/>
              </a:rPr>
              <a:t>Extra tree classifier</a:t>
            </a:r>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611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Results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5B5F191C-D7D2-437B-ABFF-C7F68D597B22}"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10" name="TextBox 9"/>
          <p:cNvSpPr txBox="1"/>
          <p:nvPr/>
        </p:nvSpPr>
        <p:spPr>
          <a:xfrm>
            <a:off x="746944" y="1166842"/>
            <a:ext cx="7650111" cy="4524315"/>
          </a:xfrm>
          <a:prstGeom prst="rect">
            <a:avLst/>
          </a:prstGeom>
          <a:noFill/>
        </p:spPr>
        <p:txBody>
          <a:bodyPr wrap="square">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weather forecasting system undergoes a comprehensive testing and performance evaluation process to ensure its accuracy, efficiency, and reliability. </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Various testing methods, including functional testing, performance testing, security testing, and usability testing, are conducted to validate system operations.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Functional testing verifies that each component, such as data gathering, preprocessing, model training, and prediction, operates correctly. </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Performance testing assesses the system’s speed, load-handling capability, and response time when processing large weather datasets. Security testing ensures that the system’s data sources and APIs are protected from unauthorized access, while usability testing checks for cross-platform compatibility and user experience.</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481288" y="1424178"/>
            <a:ext cx="4572000" cy="369332"/>
          </a:xfrm>
          <a:prstGeom prst="rect">
            <a:avLst/>
          </a:prstGeom>
          <a:noFill/>
        </p:spPr>
        <p:txBody>
          <a:bodyPr wrap="square">
            <a:spAutoFit/>
          </a:bodyPr>
          <a:lstStyle/>
          <a:p>
            <a:r>
              <a:rPr lang="en-IN" b="1" dirty="0">
                <a:effectLst/>
                <a:latin typeface="Times New Roman" panose="02020603050405020304" pitchFamily="18" charset="0"/>
                <a:cs typeface="Times New Roman" panose="02020603050405020304" pitchFamily="18" charset="0"/>
              </a:rPr>
              <a:t>Landing Page</a:t>
            </a:r>
            <a:endParaRPr lang="en-IN" b="1"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6956C1CE-CACE-47FC-90A2-A02E4AD860D2}"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pic>
        <p:nvPicPr>
          <p:cNvPr id="7" name="Content Placeholder 3"/>
          <p:cNvPicPr>
            <a:picLocks noGrp="1"/>
          </p:cNvPicPr>
          <p:nvPr>
            <p:ph idx="1"/>
          </p:nvPr>
        </p:nvPicPr>
        <p:blipFill>
          <a:blip r:embed="rId1"/>
          <a:stretch>
            <a:fillRect/>
          </a:stretch>
        </p:blipFill>
        <p:spPr>
          <a:xfrm>
            <a:off x="481288" y="1875778"/>
            <a:ext cx="4090712" cy="2900548"/>
          </a:xfrm>
          <a:prstGeom prst="rect">
            <a:avLst/>
          </a:prstGeom>
        </p:spPr>
      </p:pic>
      <p:sp>
        <p:nvSpPr>
          <p:cNvPr id="9" name="TextBox 8"/>
          <p:cNvSpPr txBox="1"/>
          <p:nvPr/>
        </p:nvSpPr>
        <p:spPr>
          <a:xfrm>
            <a:off x="4960375" y="1424178"/>
            <a:ext cx="4572000" cy="646331"/>
          </a:xfrm>
          <a:prstGeom prst="rect">
            <a:avLst/>
          </a:prstGeom>
          <a:noFill/>
        </p:spPr>
        <p:txBody>
          <a:bodyPr wrap="square">
            <a:spAutoFit/>
          </a:bodyPr>
          <a:lstStyle/>
          <a:p>
            <a:r>
              <a:rPr lang="en-IN" b="1" dirty="0">
                <a:effectLst/>
                <a:latin typeface="Times New Roman" panose="02020603050405020304" pitchFamily="18" charset="0"/>
                <a:cs typeface="Times New Roman" panose="02020603050405020304" pitchFamily="18" charset="0"/>
              </a:rPr>
              <a:t>Register Page</a:t>
            </a:r>
            <a:br>
              <a:rPr lang="en-AU" b="1" dirty="0">
                <a:effectLst/>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pic>
        <p:nvPicPr>
          <p:cNvPr id="10" name="Content Placeholder 3"/>
          <p:cNvPicPr/>
          <p:nvPr/>
        </p:nvPicPr>
        <p:blipFill>
          <a:blip r:embed="rId2"/>
          <a:stretch>
            <a:fillRect/>
          </a:stretch>
        </p:blipFill>
        <p:spPr>
          <a:xfrm>
            <a:off x="4768153" y="2070508"/>
            <a:ext cx="4090712" cy="28087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90B8A376-A028-4B2E-948B-5A93DED2192E}"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6" name="Footer Placeholder 5"/>
          <p:cNvSpPr>
            <a:spLocks noGrp="1"/>
          </p:cNvSpPr>
          <p:nvPr>
            <p:ph type="ftr" sz="quarter" idx="11"/>
          </p:nvPr>
        </p:nvSpPr>
        <p:spPr/>
        <p:txBody>
          <a:bodyPr/>
          <a:lstStyle/>
          <a:p>
            <a:r>
              <a:rPr lang="en-IN"/>
              <a:t>Title of the Project</a:t>
            </a:r>
            <a:endParaRPr lang="en-IN"/>
          </a:p>
        </p:txBody>
      </p:sp>
      <p:sp>
        <p:nvSpPr>
          <p:cNvPr id="10" name="TextBox 9"/>
          <p:cNvSpPr txBox="1"/>
          <p:nvPr/>
        </p:nvSpPr>
        <p:spPr>
          <a:xfrm>
            <a:off x="5092494" y="1007184"/>
            <a:ext cx="4572000" cy="369332"/>
          </a:xfrm>
          <a:prstGeom prst="rect">
            <a:avLst/>
          </a:prstGeom>
          <a:noFill/>
        </p:spPr>
        <p:txBody>
          <a:bodyPr wrap="square">
            <a:spAutoFit/>
          </a:bodyPr>
          <a:lstStyle/>
          <a:p>
            <a:r>
              <a:rPr lang="en-IN" b="1" dirty="0">
                <a:effectLst/>
                <a:latin typeface="Times New Roman" panose="02020603050405020304" pitchFamily="18" charset="0"/>
                <a:cs typeface="Times New Roman" panose="02020603050405020304" pitchFamily="18" charset="0"/>
              </a:rPr>
              <a:t>Home Page</a:t>
            </a:r>
            <a:endParaRPr lang="en-IN" b="1" dirty="0">
              <a:latin typeface="Times New Roman" panose="02020603050405020304" pitchFamily="18" charset="0"/>
              <a:cs typeface="Times New Roman" panose="02020603050405020304" pitchFamily="18" charset="0"/>
            </a:endParaRPr>
          </a:p>
        </p:txBody>
      </p:sp>
      <p:pic>
        <p:nvPicPr>
          <p:cNvPr id="11" name="Content Placeholder 3"/>
          <p:cNvPicPr>
            <a:picLocks noGrp="1"/>
          </p:cNvPicPr>
          <p:nvPr>
            <p:ph idx="1"/>
          </p:nvPr>
        </p:nvPicPr>
        <p:blipFill>
          <a:blip r:embed="rId1"/>
          <a:stretch>
            <a:fillRect/>
          </a:stretch>
        </p:blipFill>
        <p:spPr>
          <a:xfrm>
            <a:off x="4758198" y="1376516"/>
            <a:ext cx="3982066" cy="2971903"/>
          </a:xfrm>
          <a:prstGeom prst="rect">
            <a:avLst/>
          </a:prstGeom>
        </p:spPr>
      </p:pic>
      <p:sp>
        <p:nvSpPr>
          <p:cNvPr id="13" name="TextBox 12"/>
          <p:cNvSpPr txBox="1"/>
          <p:nvPr/>
        </p:nvSpPr>
        <p:spPr>
          <a:xfrm>
            <a:off x="628650" y="1007184"/>
            <a:ext cx="4665406" cy="369332"/>
          </a:xfrm>
          <a:prstGeom prst="rect">
            <a:avLst/>
          </a:prstGeom>
          <a:noFill/>
        </p:spPr>
        <p:txBody>
          <a:bodyPr wrap="square">
            <a:spAutoFit/>
          </a:bodyPr>
          <a:lstStyle/>
          <a:p>
            <a:r>
              <a:rPr lang="en-IN" b="1" dirty="0">
                <a:effectLst/>
                <a:latin typeface="Times New Roman" panose="02020603050405020304" pitchFamily="18" charset="0"/>
                <a:cs typeface="Times New Roman" panose="02020603050405020304" pitchFamily="18" charset="0"/>
              </a:rPr>
              <a:t>Login Page</a:t>
            </a:r>
            <a:endParaRPr lang="en-IN" b="1" dirty="0">
              <a:latin typeface="Times New Roman" panose="02020603050405020304" pitchFamily="18" charset="0"/>
              <a:cs typeface="Times New Roman" panose="02020603050405020304" pitchFamily="18" charset="0"/>
            </a:endParaRPr>
          </a:p>
        </p:txBody>
      </p:sp>
      <p:pic>
        <p:nvPicPr>
          <p:cNvPr id="14" name="Content Placeholder 3"/>
          <p:cNvPicPr/>
          <p:nvPr/>
        </p:nvPicPr>
        <p:blipFill>
          <a:blip r:embed="rId2"/>
          <a:stretch>
            <a:fillRect/>
          </a:stretch>
        </p:blipFill>
        <p:spPr>
          <a:xfrm>
            <a:off x="403736" y="1687451"/>
            <a:ext cx="4060109" cy="274044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E1635-4293-4BDB-9808-27ED47FEDDC8}" type="datetime1">
              <a:rPr lang="en-IN" smtClean="0"/>
            </a:fld>
            <a:endParaRPr lang="en-IN"/>
          </a:p>
        </p:txBody>
      </p:sp>
      <p:sp>
        <p:nvSpPr>
          <p:cNvPr id="3" name="Footer Placeholder 2"/>
          <p:cNvSpPr>
            <a:spLocks noGrp="1"/>
          </p:cNvSpPr>
          <p:nvPr>
            <p:ph type="ftr" sz="quarter" idx="11"/>
          </p:nvPr>
        </p:nvSpPr>
        <p:spPr/>
        <p:txBody>
          <a:bodyPr/>
          <a:lstStyle/>
          <a:p>
            <a:r>
              <a:rPr lang="en-IN"/>
              <a:t>Title of the Project</a:t>
            </a:r>
            <a:endParaRPr lang="en-IN"/>
          </a:p>
        </p:txBody>
      </p:sp>
      <p:sp>
        <p:nvSpPr>
          <p:cNvPr id="4" name="Slide Number Placeholder 3"/>
          <p:cNvSpPr>
            <a:spLocks noGrp="1"/>
          </p:cNvSpPr>
          <p:nvPr>
            <p:ph type="sldNum" sz="quarter" idx="12"/>
          </p:nvPr>
        </p:nvSpPr>
        <p:spPr/>
        <p:txBody>
          <a:bodyPr/>
          <a:lstStyle/>
          <a:p>
            <a:fld id="{9D3FF152-60F5-4862-82F9-1190556AA56F}" type="slidenum">
              <a:rPr lang="en-IN" smtClean="0"/>
            </a:fld>
            <a:endParaRPr lang="en-IN"/>
          </a:p>
        </p:txBody>
      </p:sp>
      <p:sp>
        <p:nvSpPr>
          <p:cNvPr id="6" name="TextBox 5"/>
          <p:cNvSpPr txBox="1"/>
          <p:nvPr/>
        </p:nvSpPr>
        <p:spPr>
          <a:xfrm>
            <a:off x="2286000" y="125564"/>
            <a:ext cx="4572000" cy="584775"/>
          </a:xfrm>
          <a:prstGeom prst="rect">
            <a:avLst/>
          </a:prstGeom>
          <a:noFill/>
        </p:spPr>
        <p:txBody>
          <a:bodyPr wrap="square">
            <a:sp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Screen Shots</a:t>
            </a:r>
            <a:endParaRPr lang="en-IN" sz="3200" dirty="0"/>
          </a:p>
        </p:txBody>
      </p:sp>
      <p:sp>
        <p:nvSpPr>
          <p:cNvPr id="8" name="TextBox 7"/>
          <p:cNvSpPr txBox="1"/>
          <p:nvPr/>
        </p:nvSpPr>
        <p:spPr>
          <a:xfrm>
            <a:off x="580103" y="1034534"/>
            <a:ext cx="4572000" cy="369332"/>
          </a:xfrm>
          <a:prstGeom prst="rect">
            <a:avLst/>
          </a:prstGeom>
          <a:noFill/>
        </p:spPr>
        <p:txBody>
          <a:bodyPr wrap="square">
            <a:spAutoFit/>
          </a:bodyPr>
          <a:lstStyle/>
          <a:p>
            <a:r>
              <a:rPr lang="en-IN" b="1" dirty="0">
                <a:effectLst/>
                <a:latin typeface="Times New Roman" panose="02020603050405020304" pitchFamily="18" charset="0"/>
                <a:cs typeface="Times New Roman" panose="02020603050405020304" pitchFamily="18" charset="0"/>
              </a:rPr>
              <a:t>Model Page</a:t>
            </a:r>
            <a:endParaRPr lang="en-IN" b="1" dirty="0">
              <a:latin typeface="Times New Roman" panose="02020603050405020304" pitchFamily="18" charset="0"/>
              <a:cs typeface="Times New Roman" panose="02020603050405020304" pitchFamily="18" charset="0"/>
            </a:endParaRPr>
          </a:p>
        </p:txBody>
      </p:sp>
      <p:pic>
        <p:nvPicPr>
          <p:cNvPr id="9" name="Content Placeholder 3"/>
          <p:cNvPicPr/>
          <p:nvPr/>
        </p:nvPicPr>
        <p:blipFill>
          <a:blip r:embed="rId1"/>
          <a:stretch>
            <a:fillRect/>
          </a:stretch>
        </p:blipFill>
        <p:spPr>
          <a:xfrm>
            <a:off x="628650" y="1666505"/>
            <a:ext cx="3943350" cy="3141469"/>
          </a:xfrm>
          <a:prstGeom prst="rect">
            <a:avLst/>
          </a:prstGeom>
        </p:spPr>
      </p:pic>
      <p:sp>
        <p:nvSpPr>
          <p:cNvPr id="11" name="TextBox 10"/>
          <p:cNvSpPr txBox="1"/>
          <p:nvPr/>
        </p:nvSpPr>
        <p:spPr>
          <a:xfrm>
            <a:off x="5550310" y="1076010"/>
            <a:ext cx="4572000" cy="369332"/>
          </a:xfrm>
          <a:prstGeom prst="rect">
            <a:avLst/>
          </a:prstGeom>
          <a:noFill/>
        </p:spPr>
        <p:txBody>
          <a:bodyPr wrap="square">
            <a:spAutoFit/>
          </a:bodyPr>
          <a:lstStyle/>
          <a:p>
            <a:r>
              <a:rPr lang="en-IN" b="1" dirty="0">
                <a:effectLst/>
                <a:latin typeface="Times New Roman" panose="02020603050405020304" pitchFamily="18" charset="0"/>
                <a:cs typeface="Times New Roman" panose="02020603050405020304" pitchFamily="18" charset="0"/>
              </a:rPr>
              <a:t>Output Page</a:t>
            </a:r>
            <a:endParaRPr lang="en-IN" b="1" dirty="0">
              <a:latin typeface="Times New Roman" panose="02020603050405020304" pitchFamily="18" charset="0"/>
              <a:cs typeface="Times New Roman" panose="02020603050405020304" pitchFamily="18" charset="0"/>
            </a:endParaRPr>
          </a:p>
        </p:txBody>
      </p:sp>
      <p:pic>
        <p:nvPicPr>
          <p:cNvPr id="12" name="Content Placeholder 3"/>
          <p:cNvPicPr/>
          <p:nvPr/>
        </p:nvPicPr>
        <p:blipFill>
          <a:blip r:embed="rId2"/>
          <a:stretch>
            <a:fillRect/>
          </a:stretch>
        </p:blipFill>
        <p:spPr>
          <a:xfrm>
            <a:off x="4886325" y="1707981"/>
            <a:ext cx="3943350" cy="283180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328" y="418962"/>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76DFA34F-4ABB-49E2-B705-EBED4503D36D}"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4" name="Footer Placeholder 3"/>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988142" y="1252128"/>
            <a:ext cx="7167715" cy="4801314"/>
          </a:xfrm>
          <a:prstGeom prst="rect">
            <a:avLst/>
          </a:prstGeom>
          <a:noFill/>
        </p:spPr>
        <p:txBody>
          <a:bodyPr wrap="square">
            <a:spAutoFit/>
          </a:bodyPr>
          <a:lstStyle/>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 conclusion, the integration of advanced machine learning models in climate computing presents a transformative approach to weather prediction. </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By leveraging vast datasets and sophisticated algorithms, these models significantly enhance the accuracy and reliability of forecasts, allowing for more informed decision-making in sectors such as agriculture, disaster management, and urban planning. </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ability to analyze complex climate patterns and predict extreme weather events is crucial in mitigating the impacts of climate change and improving resilience. </a:t>
            </a: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As technology continues to evolve, the collaboration between climate science and machine learning will pave the way for innovative solutions that address the challenges of an unpredictable climate, ultimately fostering a more sustainable future.</a:t>
            </a:r>
            <a:endParaRPr lang="en-AU"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03642"/>
            <a:ext cx="7886700" cy="530258"/>
          </a:xfrm>
        </p:spPr>
        <p:txBody>
          <a:bodyPr>
            <a:noAutofit/>
          </a:bodyPr>
          <a:lstStyle/>
          <a:p>
            <a:pPr algn="ctr"/>
            <a:r>
              <a:rPr lang="en-US" sz="3200" b="1" dirty="0">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Feature Enhancement</a:t>
            </a:r>
            <a:endParaRPr lang="en-IN" sz="19900" b="1" dirty="0">
              <a:solidFill>
                <a:srgbClr val="7030A0"/>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A6798E70-03A1-4AA1-BF71-CCAF0465237F}" type="datetime1">
              <a:rPr lang="en-IN" smtClean="0"/>
            </a:fld>
            <a:endParaRPr lang="en-IN"/>
          </a:p>
        </p:txBody>
      </p:sp>
      <p:sp>
        <p:nvSpPr>
          <p:cNvPr id="5" name="Slide Number Placeholder 4"/>
          <p:cNvSpPr>
            <a:spLocks noGrp="1"/>
          </p:cNvSpPr>
          <p:nvPr>
            <p:ph type="sldNum" sz="quarter" idx="12"/>
          </p:nvPr>
        </p:nvSpPr>
        <p:spPr/>
        <p:txBody>
          <a:bodyPr/>
          <a:lstStyle/>
          <a:p>
            <a:fld id="{9D3FF152-60F5-4862-82F9-1190556AA56F}" type="slidenum">
              <a:rPr lang="en-IN" smtClean="0"/>
            </a:fld>
            <a:endParaRPr lang="en-IN"/>
          </a:p>
        </p:txBody>
      </p:sp>
      <p:sp>
        <p:nvSpPr>
          <p:cNvPr id="4" name="Footer Placeholder 3"/>
          <p:cNvSpPr>
            <a:spLocks noGrp="1"/>
          </p:cNvSpPr>
          <p:nvPr>
            <p:ph type="ftr" sz="quarter" idx="11"/>
          </p:nvPr>
        </p:nvSpPr>
        <p:spPr/>
        <p:txBody>
          <a:bodyPr/>
          <a:lstStyle/>
          <a:p>
            <a:r>
              <a:rPr lang="en-IN"/>
              <a:t>Title of the Project</a:t>
            </a:r>
            <a:endParaRPr lang="en-IN"/>
          </a:p>
        </p:txBody>
      </p:sp>
      <p:sp>
        <p:nvSpPr>
          <p:cNvPr id="8" name="TextBox 7"/>
          <p:cNvSpPr txBox="1"/>
          <p:nvPr/>
        </p:nvSpPr>
        <p:spPr>
          <a:xfrm>
            <a:off x="628650" y="1166752"/>
            <a:ext cx="7698658" cy="3474477"/>
          </a:xfrm>
          <a:prstGeom prst="rect">
            <a:avLst/>
          </a:prstGeom>
          <a:noFill/>
        </p:spPr>
        <p:txBody>
          <a:bodyPr wrap="square">
            <a:spAutoFit/>
          </a:bodyPr>
          <a:lstStyle/>
          <a:p>
            <a:pPr marL="285750" indent="-285750" algn="just">
              <a:lnSpc>
                <a:spcPct val="150000"/>
              </a:lnSpc>
              <a:spcAft>
                <a:spcPts val="800"/>
              </a:spcAft>
              <a:buFont typeface="Wingdings" panose="05000000000000000000" pitchFamily="2" charset="2"/>
              <a:buChar char="§"/>
              <a:tabLst>
                <a:tab pos="540385" algn="l"/>
              </a:tabLst>
            </a:pPr>
            <a:r>
              <a:rPr lang="en-US" sz="1800" b="0" kern="100" dirty="0">
                <a:effectLst/>
                <a:latin typeface="Times New Roman" panose="02020603050405020304" pitchFamily="18" charset="0"/>
                <a:ea typeface="SimSun" panose="02010600030101010101" pitchFamily="2" charset="-122"/>
                <a:cs typeface="Times New Roman" panose="02020603050405020304" pitchFamily="18" charset="0"/>
              </a:rPr>
              <a:t>The machine learning-based weather forecasting system has demonstrated significant accuracy and efficiency, but there are several areas for improvement to enhance its capabilities further.</a:t>
            </a:r>
            <a:endParaRPr lang="en-US" sz="1400" kern="100" dirty="0">
              <a:effectLst/>
              <a:latin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Wingdings" panose="05000000000000000000" pitchFamily="2" charset="2"/>
              <a:buChar char="§"/>
              <a:tabLst>
                <a:tab pos="540385" algn="l"/>
              </a:tabLst>
            </a:pPr>
            <a:r>
              <a:rPr lang="en-US" sz="1800" b="0" kern="100" dirty="0">
                <a:effectLst/>
                <a:latin typeface="Times New Roman" panose="02020603050405020304" pitchFamily="18" charset="0"/>
                <a:ea typeface="SimSun" panose="02010600030101010101" pitchFamily="2" charset="-122"/>
                <a:cs typeface="Times New Roman" panose="02020603050405020304" pitchFamily="18" charset="0"/>
              </a:rPr>
              <a:t>Another potential enhancement is the implementation of cloud computing and edge computing to improve system performance and scalability, allowing faster processing of large datasets. Moreover, integrating the system with mobile applications and smart assistants can provide personalized weather alerts and early warnings for extreme conditions.</a:t>
            </a:r>
            <a:endParaRPr lang="en-US" sz="1400" kern="100" dirty="0">
              <a:effectLst/>
              <a:latin typeface="Calibri" panose="020F0502020204030204" pitchFamily="34"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65991"/>
            <a:ext cx="7886700" cy="530258"/>
          </a:xfrm>
        </p:spPr>
        <p:txBody>
          <a:bodyPr>
            <a:noAutofit/>
          </a:bodyPr>
          <a:lstStyle/>
          <a:p>
            <a:pPr algn="ctr"/>
            <a:r>
              <a:rPr lang="en-US" sz="3200" b="1" dirty="0">
                <a:solidFill>
                  <a:srgbClr val="7030A0"/>
                </a:solidFill>
                <a:latin typeface="Times New Roman" panose="02020603050405020304" pitchFamily="18" charset="0"/>
                <a:cs typeface="Times New Roman" panose="02020603050405020304" pitchFamily="18" charset="0"/>
              </a:rPr>
              <a:t>Reference Paper</a:t>
            </a:r>
            <a:endParaRPr lang="en-IN" sz="3200" b="1" dirty="0">
              <a:solidFill>
                <a:srgbClr val="7030A0"/>
              </a:solidFill>
              <a:latin typeface="Times New Roman" panose="02020603050405020304" pitchFamily="18" charset="0"/>
              <a:cs typeface="Times New Roman" panose="02020603050405020304" pitchFamily="18" charset="0"/>
            </a:endParaRPr>
          </a:p>
        </p:txBody>
      </p:sp>
      <p:sp>
        <p:nvSpPr>
          <p:cNvPr id="3" name="Title 1"/>
          <p:cNvSpPr txBox="1"/>
          <p:nvPr/>
        </p:nvSpPr>
        <p:spPr>
          <a:xfrm>
            <a:off x="390433" y="1587898"/>
            <a:ext cx="7886700" cy="530258"/>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42950" indent="-742950" algn="ctr">
              <a:buFont typeface="Arial" panose="020B0604020202020204" pitchFamily="34" charset="0"/>
              <a:buChar char="•"/>
            </a:pPr>
            <a:endParaRPr lang="en-IN" dirty="0">
              <a:solidFill>
                <a:srgbClr val="7030A0"/>
              </a:solidFill>
              <a:latin typeface="+mn-lt"/>
            </a:endParaRPr>
          </a:p>
        </p:txBody>
      </p:sp>
      <p:sp>
        <p:nvSpPr>
          <p:cNvPr id="5" name="Date Placeholder 4"/>
          <p:cNvSpPr>
            <a:spLocks noGrp="1"/>
          </p:cNvSpPr>
          <p:nvPr>
            <p:ph type="dt" sz="half" idx="10"/>
          </p:nvPr>
        </p:nvSpPr>
        <p:spPr/>
        <p:txBody>
          <a:bodyPr/>
          <a:lstStyle/>
          <a:p>
            <a:fld id="{9CF59E33-DD9E-4B35-956E-F9289B843811}" type="datetime1">
              <a:rPr lang="en-IN" smtClean="0"/>
            </a:fld>
            <a:endParaRPr lang="en-IN"/>
          </a:p>
        </p:txBody>
      </p:sp>
      <p:sp>
        <p:nvSpPr>
          <p:cNvPr id="6" name="Slide Number Placeholder 5"/>
          <p:cNvSpPr>
            <a:spLocks noGrp="1"/>
          </p:cNvSpPr>
          <p:nvPr>
            <p:ph type="sldNum" sz="quarter" idx="12"/>
          </p:nvPr>
        </p:nvSpPr>
        <p:spPr/>
        <p:txBody>
          <a:bodyPr/>
          <a:lstStyle/>
          <a:p>
            <a:fld id="{9D3FF152-60F5-4862-82F9-1190556AA56F}" type="slidenum">
              <a:rPr lang="en-IN" smtClean="0"/>
            </a:fld>
            <a:endParaRPr lang="en-IN"/>
          </a:p>
        </p:txBody>
      </p:sp>
      <p:sp>
        <p:nvSpPr>
          <p:cNvPr id="4" name="Footer Placeholder 3"/>
          <p:cNvSpPr>
            <a:spLocks noGrp="1"/>
          </p:cNvSpPr>
          <p:nvPr>
            <p:ph type="ftr" sz="quarter" idx="11"/>
          </p:nvPr>
        </p:nvSpPr>
        <p:spPr/>
        <p:txBody>
          <a:bodyPr/>
          <a:lstStyle/>
          <a:p>
            <a:r>
              <a:rPr lang="en-IN"/>
              <a:t>Title of the Project</a:t>
            </a:r>
            <a:endParaRPr lang="en-IN"/>
          </a:p>
        </p:txBody>
      </p:sp>
      <p:sp>
        <p:nvSpPr>
          <p:cNvPr id="9" name="TextBox 8"/>
          <p:cNvSpPr txBox="1"/>
          <p:nvPr/>
        </p:nvSpPr>
        <p:spPr>
          <a:xfrm>
            <a:off x="995301" y="683076"/>
            <a:ext cx="7758266" cy="5859746"/>
          </a:xfrm>
          <a:prstGeom prst="rect">
            <a:avLst/>
          </a:prstGeom>
          <a:noFill/>
        </p:spPr>
        <p:txBody>
          <a:bodyPr wrap="square">
            <a:spAutoFit/>
          </a:bodyPr>
          <a:lstStyle/>
          <a:p>
            <a:pPr marL="0" marR="3810" algn="just">
              <a:lnSpc>
                <a:spcPct val="150000"/>
              </a:lnSpc>
              <a:spcAft>
                <a:spcPts val="800"/>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Prof, Uday Patkar, Mr. Sanskar Maske and Mr. Saffa Ahmad, Mr. Rushikesh </a:t>
            </a:r>
            <a:r>
              <a:rPr lang="en-IN" sz="18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Mengade</a:t>
            </a: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Mr </a:t>
            </a:r>
            <a:r>
              <a:rPr lang="en-IN" sz="18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GauravSadawarti</a:t>
            </a: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“Machine Learning for Weather Forecasting Using Freely Available Weather Data in Python”; August 2022.  [1]</a:t>
            </a:r>
            <a:endParaRPr lang="en-IN" sz="1400" kern="100" dirty="0">
              <a:effectLst/>
              <a:latin typeface="Calibri" panose="020F0502020204030204" pitchFamily="34" charset="0"/>
              <a:cs typeface="Times New Roman" panose="02020603050405020304" pitchFamily="18" charset="0"/>
            </a:endParaRPr>
          </a:p>
          <a:p>
            <a:pPr marL="135255" marR="3810" indent="3175" algn="just">
              <a:lnSpc>
                <a:spcPct val="150000"/>
              </a:lnSpc>
              <a:spcAft>
                <a:spcPts val="800"/>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kern="100" dirty="0">
              <a:effectLst/>
              <a:latin typeface="Calibri" panose="020F0502020204030204" pitchFamily="34" charset="0"/>
              <a:cs typeface="Times New Roman" panose="02020603050405020304" pitchFamily="18" charset="0"/>
            </a:endParaRPr>
          </a:p>
          <a:p>
            <a:pPr marL="6985" marR="3810" indent="-6985" algn="just">
              <a:lnSpc>
                <a:spcPct val="150000"/>
              </a:lnSpc>
              <a:spcAft>
                <a:spcPts val="800"/>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Pattanaik, R.K., Mishra, S., Siddique, M., Gopikrishna, T., Satapathy, </a:t>
            </a:r>
            <a:r>
              <a:rPr lang="en-IN" sz="18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S.Breast</a:t>
            </a: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Cancer Classification from Mammogram Images Using Extreme Learning Machine-Based DenseNet121 Model, Journal of Sensors, </a:t>
            </a:r>
            <a:r>
              <a:rPr lang="en-IN" sz="18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Hindawi</a:t>
            </a: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Publication, ISSN No: 1687-725X, Volume 2022, Article ID 2731364, page:1-12, 2022. [2]</a:t>
            </a:r>
            <a:endParaRPr lang="en-IN" sz="1400" kern="100" dirty="0">
              <a:effectLst/>
              <a:latin typeface="Calibri" panose="020F0502020204030204" pitchFamily="34" charset="0"/>
              <a:cs typeface="Times New Roman" panose="02020603050405020304" pitchFamily="18" charset="0"/>
            </a:endParaRPr>
          </a:p>
          <a:p>
            <a:pPr marL="6985" marR="3810" indent="-6985" algn="just">
              <a:lnSpc>
                <a:spcPct val="150000"/>
              </a:lnSpc>
              <a:spcAft>
                <a:spcPts val="800"/>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kern="100" dirty="0">
              <a:effectLst/>
              <a:latin typeface="Calibri" panose="020F0502020204030204" pitchFamily="34" charset="0"/>
              <a:cs typeface="Times New Roman" panose="02020603050405020304" pitchFamily="18" charset="0"/>
            </a:endParaRPr>
          </a:p>
          <a:p>
            <a:pPr marL="0" algn="just">
              <a:lnSpc>
                <a:spcPct val="150000"/>
              </a:lnSpc>
              <a:spcAft>
                <a:spcPts val="800"/>
              </a:spcAft>
            </a:pPr>
            <a:r>
              <a:rPr lang="en-IN" sz="18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Mohapatra,S</a:t>
            </a: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Siddique,M</a:t>
            </a: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Paikaray</a:t>
            </a: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B.K, </a:t>
            </a:r>
            <a:r>
              <a:rPr lang="en-IN" sz="1800" kern="1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Riyazbanu</a:t>
            </a: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 Automated Invasive Cervical Cancer Disease  Detection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Early Stage Through Deep Learning, International Journal of Bioinformatics Research and Applications, 2023, 19(4), 306-326.  [3]</a:t>
            </a:r>
            <a:endParaRPr lang="en-IN" sz="1400" kern="100" dirty="0">
              <a:effectLst/>
              <a:latin typeface="Calibri" panose="020F0502020204030204" pitchFamily="34"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12596</Words>
  <Application>WPS Slides</Application>
  <PresentationFormat>On-screen Show (4:3)</PresentationFormat>
  <Paragraphs>349</Paragraphs>
  <Slides>25</Slides>
  <Notes>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Arial</vt:lpstr>
      <vt:lpstr>SimSun</vt:lpstr>
      <vt:lpstr>Wingdings</vt:lpstr>
      <vt:lpstr>Times New Roman</vt:lpstr>
      <vt:lpstr>Calibri</vt:lpstr>
      <vt:lpstr>Latha</vt:lpstr>
      <vt:lpstr>Segoe Print</vt:lpstr>
      <vt:lpstr>Microsoft YaHei</vt:lpstr>
      <vt:lpstr>Arial Unicode MS</vt:lpstr>
      <vt:lpstr>Calibri Light</vt:lpstr>
      <vt:lpstr>Office Theme</vt:lpstr>
      <vt:lpstr>PowerPoint 演示文稿</vt:lpstr>
      <vt:lpstr>Abstract</vt:lpstr>
      <vt:lpstr>Introduction</vt:lpstr>
      <vt:lpstr>Objective of the Project</vt:lpstr>
      <vt:lpstr>Literature Survey</vt:lpstr>
      <vt:lpstr>Literature Survey</vt:lpstr>
      <vt:lpstr>Problem Statement</vt:lpstr>
      <vt:lpstr>Proposed System</vt:lpstr>
      <vt:lpstr>Software / Hardware used</vt:lpstr>
      <vt:lpstr>Architecture Diagram</vt:lpstr>
      <vt:lpstr>Bagging Classifier Diagram</vt:lpstr>
      <vt:lpstr>Ridge Classifier Diagram</vt:lpstr>
      <vt:lpstr>Extra Tree Classifier Diagram</vt:lpstr>
      <vt:lpstr>Proposed Module</vt:lpstr>
      <vt:lpstr>Proposed Module</vt:lpstr>
      <vt:lpstr>Algorithm And Techniques</vt:lpstr>
      <vt:lpstr>Algorithm And Techniques</vt:lpstr>
      <vt:lpstr>Algorithm And Techniques</vt:lpstr>
      <vt:lpstr>Results</vt:lpstr>
      <vt:lpstr>Screen Shots</vt:lpstr>
      <vt:lpstr>Screen Shots</vt:lpstr>
      <vt:lpstr>PowerPoint 演示文稿</vt:lpstr>
      <vt:lpstr>Conclusion</vt:lpstr>
      <vt:lpstr> Feature Enhancement</vt:lpstr>
      <vt:lpstr>Reference Paper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SENTHILKUMAR G</dc:creator>
  <cp:lastModifiedBy>Mouli V</cp:lastModifiedBy>
  <cp:revision>25</cp:revision>
  <dcterms:created xsi:type="dcterms:W3CDTF">2020-12-27T14:21:00Z</dcterms:created>
  <dcterms:modified xsi:type="dcterms:W3CDTF">2025-04-02T15:12:01Z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1FC1F5B78B5A420CA573537527456941_12</vt:lpwstr>
  </property>
  <property fmtid="{D5CDD505-2E9C-101B-9397-08002B2CF9AE}" pid="3" name="KSOProductBuildVer">
    <vt:lpwstr>1033-12.2.0.20782</vt:lpwstr>
  </property>
</Properties>
</file>